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86"/>
  </p:notesMasterIdLst>
  <p:sldIdLst>
    <p:sldId id="256" r:id="rId3"/>
    <p:sldId id="266" r:id="rId4"/>
    <p:sldId id="307" r:id="rId5"/>
    <p:sldId id="267" r:id="rId6"/>
    <p:sldId id="268" r:id="rId7"/>
    <p:sldId id="297" r:id="rId8"/>
    <p:sldId id="308" r:id="rId9"/>
    <p:sldId id="272" r:id="rId10"/>
    <p:sldId id="400" r:id="rId11"/>
    <p:sldId id="399" r:id="rId12"/>
    <p:sldId id="398" r:id="rId13"/>
    <p:sldId id="401" r:id="rId14"/>
    <p:sldId id="278" r:id="rId15"/>
    <p:sldId id="273" r:id="rId16"/>
    <p:sldId id="397" r:id="rId17"/>
    <p:sldId id="259" r:id="rId18"/>
    <p:sldId id="258" r:id="rId19"/>
    <p:sldId id="260" r:id="rId20"/>
    <p:sldId id="261" r:id="rId21"/>
    <p:sldId id="262" r:id="rId22"/>
    <p:sldId id="271" r:id="rId23"/>
    <p:sldId id="281" r:id="rId24"/>
    <p:sldId id="282" r:id="rId25"/>
    <p:sldId id="280" r:id="rId26"/>
    <p:sldId id="283" r:id="rId27"/>
    <p:sldId id="263" r:id="rId28"/>
    <p:sldId id="264" r:id="rId29"/>
    <p:sldId id="265" r:id="rId30"/>
    <p:sldId id="309" r:id="rId31"/>
    <p:sldId id="310" r:id="rId32"/>
    <p:sldId id="311" r:id="rId33"/>
    <p:sldId id="270" r:id="rId34"/>
    <p:sldId id="269" r:id="rId35"/>
    <p:sldId id="274" r:id="rId36"/>
    <p:sldId id="275" r:id="rId37"/>
    <p:sldId id="277" r:id="rId38"/>
    <p:sldId id="293" r:id="rId39"/>
    <p:sldId id="257" r:id="rId40"/>
    <p:sldId id="348" r:id="rId41"/>
    <p:sldId id="358" r:id="rId42"/>
    <p:sldId id="357" r:id="rId43"/>
    <p:sldId id="359" r:id="rId44"/>
    <p:sldId id="362" r:id="rId45"/>
    <p:sldId id="363" r:id="rId46"/>
    <p:sldId id="364" r:id="rId47"/>
    <p:sldId id="365" r:id="rId48"/>
    <p:sldId id="366" r:id="rId49"/>
    <p:sldId id="367" r:id="rId50"/>
    <p:sldId id="368" r:id="rId51"/>
    <p:sldId id="369" r:id="rId52"/>
    <p:sldId id="370" r:id="rId53"/>
    <p:sldId id="371" r:id="rId54"/>
    <p:sldId id="372" r:id="rId55"/>
    <p:sldId id="373" r:id="rId56"/>
    <p:sldId id="374" r:id="rId57"/>
    <p:sldId id="375" r:id="rId58"/>
    <p:sldId id="376" r:id="rId59"/>
    <p:sldId id="345" r:id="rId60"/>
    <p:sldId id="377" r:id="rId61"/>
    <p:sldId id="391" r:id="rId62"/>
    <p:sldId id="392" r:id="rId63"/>
    <p:sldId id="393" r:id="rId64"/>
    <p:sldId id="394" r:id="rId65"/>
    <p:sldId id="395" r:id="rId66"/>
    <p:sldId id="396" r:id="rId67"/>
    <p:sldId id="379" r:id="rId68"/>
    <p:sldId id="380" r:id="rId69"/>
    <p:sldId id="381" r:id="rId70"/>
    <p:sldId id="382" r:id="rId71"/>
    <p:sldId id="383" r:id="rId72"/>
    <p:sldId id="384" r:id="rId73"/>
    <p:sldId id="385" r:id="rId74"/>
    <p:sldId id="386" r:id="rId75"/>
    <p:sldId id="387" r:id="rId76"/>
    <p:sldId id="388" r:id="rId77"/>
    <p:sldId id="389" r:id="rId78"/>
    <p:sldId id="390" r:id="rId79"/>
    <p:sldId id="405" r:id="rId80"/>
    <p:sldId id="406" r:id="rId81"/>
    <p:sldId id="402" r:id="rId82"/>
    <p:sldId id="407" r:id="rId83"/>
    <p:sldId id="409" r:id="rId84"/>
    <p:sldId id="408" r:id="rId8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tis Leelapatra" initials="WL" lastIdx="2" clrIdx="0">
    <p:extLst>
      <p:ext uri="{19B8F6BF-5375-455C-9EA6-DF929625EA0E}">
        <p15:presenceInfo xmlns:p15="http://schemas.microsoft.com/office/powerpoint/2012/main" userId="Watis Leelapat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theme" Target="theme/theme1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commentAuthors" Target="commentAuthor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A6FF-02D1-4B9B-8EB7-430D8C9AD04D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2315-ABF9-45FD-8405-BA11E5F62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3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CDA1FA-D14F-4891-9B1D-86134DC0100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264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144C-BA2A-BE8C-D57E-BC54900D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F809C-B4D0-D805-F850-D1A9DA149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7ADD7-6867-F5A0-98EC-B0C269AA9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9E377-297D-2B31-B767-49A8A8A1F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3961E6-DACF-4BF3-BD1B-60DD05ECEC74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89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16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1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1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7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0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28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7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0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2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68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22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953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29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47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34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51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83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753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517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270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79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6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11058-B257-4435-A3DA-76C1D1754B1F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0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1783F-DA06-4EBE-9A59-5AA3A447C17B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30C0B-0043-43C2-91EF-8C91F9E60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5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electronics.stackexchange.com/questions/109956/push-button-switch-symbo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hyperlink" Target="https://www.wisc-online.com/assetrepository/viewasset?id=4678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sc-online.com/assetrepository/viewasset?id=4678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e.wikipedia.org/wiki/Datei:Symbol_LED.svg" TargetMode="Externa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/wiki/Datei:Symbol_LED.svg" TargetMode="External"/><Relationship Id="rId3" Type="http://schemas.openxmlformats.org/officeDocument/2006/relationships/hyperlink" Target="http://electronics.stackexchange.com/questions/109956/push-button-switch-symbol" TargetMode="External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hyperlink" Target="https://www.wisc-online.com/assetrepository/viewasset?id=4678" TargetMode="Externa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sc-online.com/assetrepository/viewasset?id=4678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e.wikipedia.org/wiki/Datei:Symbol_LED.svg" TargetMode="External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0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1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FDEF92E-2107-41ED-81B9-545AD380A2F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5137" y="2089604"/>
            <a:ext cx="7772400" cy="1470025"/>
          </a:xfrm>
        </p:spPr>
        <p:txBody>
          <a:bodyPr>
            <a:normAutofit fontScale="90000"/>
          </a:bodyPr>
          <a:lstStyle/>
          <a:p>
            <a:br>
              <a:rPr lang="en-US" sz="5300" b="1" dirty="0">
                <a:latin typeface="TH Sarabun New" pitchFamily="34" charset="-34"/>
                <a:cs typeface="TH Sarabun New" pitchFamily="34" charset="-34"/>
              </a:rPr>
            </a:br>
            <a:br>
              <a:rPr lang="en-US" sz="5300" b="1" dirty="0">
                <a:latin typeface="TH Sarabun New" pitchFamily="34" charset="-34"/>
                <a:cs typeface="TH Sarabun New" pitchFamily="34" charset="-34"/>
              </a:rPr>
            </a:br>
            <a:r>
              <a:rPr lang="en-US" sz="73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Arduino Workshop</a:t>
            </a:r>
            <a:br>
              <a:rPr lang="en-US" sz="36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(ESP32 Advanced Level)</a:t>
            </a: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th-TH" sz="4900" b="1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  <a:t>ดร. วาธิส ลีลาภัทร</a:t>
            </a:r>
            <a:br>
              <a:rPr lang="en-US" sz="4000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</a:br>
            <a:r>
              <a:rPr lang="th-TH" sz="4000" b="1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  <a:t>ภาควิชาวิศวกรรมคอมพิวเตอร์ คณะวิศวกรรมศาสตร์</a:t>
            </a:r>
            <a:br>
              <a:rPr lang="th-TH" sz="4000" b="1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</a:br>
            <a:r>
              <a:rPr lang="th-TH" b="1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  <a:t>มหาวิทยาลัยขอนแก่น</a:t>
            </a:r>
            <a:endParaRPr lang="en-US" sz="4000" b="1" dirty="0">
              <a:solidFill>
                <a:schemeClr val="tx2">
                  <a:lumMod val="75000"/>
                </a:schemeClr>
              </a:solidFill>
              <a:latin typeface="TH Sarabun New" pitchFamily="34" charset="-34"/>
              <a:cs typeface="TH Sarabun New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9208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9379165-0FFA-4D8C-AD0D-9046EDE73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Agenda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9872CC-922F-48BD-83EE-A5145C9EDC5A}"/>
              </a:ext>
            </a:extLst>
          </p:cNvPr>
          <p:cNvSpPr/>
          <p:nvPr/>
        </p:nvSpPr>
        <p:spPr>
          <a:xfrm>
            <a:off x="520337" y="685800"/>
            <a:ext cx="8623663" cy="5329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Content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ESP32 Wi-Fi Communications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ESP32 Simple Web Server		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Internet of Things (IoT) using Blynk Platform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Hardware interrupt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LCD C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ustom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 font 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Prerequisite: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45720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1. Basic C/C++ programming language (Arduino IDE)</a:t>
            </a:r>
          </a:p>
          <a:p>
            <a:pPr marL="45720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2. Basic and intermediate ESP32 courses </a:t>
            </a:r>
          </a:p>
          <a:p>
            <a:pPr marL="45720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3. Electronics (not required, but will be advantageous)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1311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9379165-0FFA-4D8C-AD0D-9046EDE73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ESP32 DEVKIT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58DF30-71F2-408D-8B62-23086DBC0623}"/>
              </a:ext>
            </a:extLst>
          </p:cNvPr>
          <p:cNvSpPr/>
          <p:nvPr/>
        </p:nvSpPr>
        <p:spPr>
          <a:xfrm>
            <a:off x="152400" y="914400"/>
            <a:ext cx="8915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ESP-WROOM-32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DevKit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utilizes ESP32 chip, 240MHz, RAM 512KB, 4MB flash memory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Wi-Fi 2.4GHz / Bluetooth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1EF424-6045-76CC-2AD9-A362C0665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882" y="2190922"/>
            <a:ext cx="4866098" cy="375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6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DC42E1-4594-4F67-8CAF-909A94702B73}"/>
              </a:ext>
            </a:extLst>
          </p:cNvPr>
          <p:cNvSpPr txBox="1"/>
          <p:nvPr/>
        </p:nvSpPr>
        <p:spPr>
          <a:xfrm>
            <a:off x="3567198" y="5867541"/>
            <a:ext cx="164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Micro USB Port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C16FBAD-34F9-DEF3-ED7C-652F09288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ESP32 DEVKIT Pinout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474362-68E7-EB4A-D22D-5B598F215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483"/>
            <a:ext cx="9144000" cy="4477033"/>
          </a:xfrm>
          <a:prstGeom prst="rect">
            <a:avLst/>
          </a:prstGeom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5FFBC7F9-CAE5-41D8-A978-6342DAB24476}"/>
              </a:ext>
            </a:extLst>
          </p:cNvPr>
          <p:cNvSpPr/>
          <p:nvPr/>
        </p:nvSpPr>
        <p:spPr>
          <a:xfrm>
            <a:off x="4273732" y="5467491"/>
            <a:ext cx="228600" cy="400050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264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F63-0D02-B318-8EAE-D7D668D5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EF0EAA7-019C-4AAD-A343-004906C68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ESP32 Extension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123B4-3562-FFA8-A3A4-FB2826B2E996}"/>
              </a:ext>
            </a:extLst>
          </p:cNvPr>
          <p:cNvSpPr/>
          <p:nvPr/>
        </p:nvSpPr>
        <p:spPr>
          <a:xfrm>
            <a:off x="156693" y="534474"/>
            <a:ext cx="8915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Pins extension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External power supply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(Signal) Pins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 (3V Power supply) Pins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 (Ground) Pins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C1231-E82B-4490-DAD2-0915EB3291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11" b="13866"/>
          <a:stretch/>
        </p:blipFill>
        <p:spPr>
          <a:xfrm rot="16200000">
            <a:off x="3067402" y="1620097"/>
            <a:ext cx="5985372" cy="449043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F7F4443-0252-5318-4CE3-9D6D3DB62974}"/>
              </a:ext>
            </a:extLst>
          </p:cNvPr>
          <p:cNvGrpSpPr/>
          <p:nvPr/>
        </p:nvGrpSpPr>
        <p:grpSpPr>
          <a:xfrm>
            <a:off x="4181341" y="1536879"/>
            <a:ext cx="3745606" cy="2644462"/>
            <a:chOff x="4181341" y="1536879"/>
            <a:chExt cx="3745606" cy="264446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158B40-FE9B-030E-7B22-AB193F71C7F5}"/>
                </a:ext>
              </a:extLst>
            </p:cNvPr>
            <p:cNvSpPr/>
            <p:nvPr/>
          </p:nvSpPr>
          <p:spPr>
            <a:xfrm>
              <a:off x="4181341" y="1536879"/>
              <a:ext cx="201769" cy="26444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569561-50F6-E745-C500-8B7EA00B9B36}"/>
                </a:ext>
              </a:extLst>
            </p:cNvPr>
            <p:cNvSpPr/>
            <p:nvPr/>
          </p:nvSpPr>
          <p:spPr>
            <a:xfrm>
              <a:off x="7725178" y="1536879"/>
              <a:ext cx="201769" cy="26444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85D513-B2F3-8134-B524-C998FFFB5E9D}"/>
                </a:ext>
              </a:extLst>
            </p:cNvPr>
            <p:cNvSpPr/>
            <p:nvPr/>
          </p:nvSpPr>
          <p:spPr>
            <a:xfrm>
              <a:off x="4383110" y="1536879"/>
              <a:ext cx="201769" cy="2644462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FADFCB-90FB-786C-21D7-CF916CE83DBA}"/>
                </a:ext>
              </a:extLst>
            </p:cNvPr>
            <p:cNvSpPr/>
            <p:nvPr/>
          </p:nvSpPr>
          <p:spPr>
            <a:xfrm>
              <a:off x="7523409" y="1536879"/>
              <a:ext cx="201769" cy="2644462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850ABF-56CB-7477-C0B4-F6AE10E6F784}"/>
                </a:ext>
              </a:extLst>
            </p:cNvPr>
            <p:cNvSpPr/>
            <p:nvPr/>
          </p:nvSpPr>
          <p:spPr>
            <a:xfrm>
              <a:off x="4603661" y="1536879"/>
              <a:ext cx="201769" cy="2644462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0B99B3-7A4A-DEDC-3CC0-065F1CF43317}"/>
                </a:ext>
              </a:extLst>
            </p:cNvPr>
            <p:cNvSpPr/>
            <p:nvPr/>
          </p:nvSpPr>
          <p:spPr>
            <a:xfrm>
              <a:off x="7302858" y="1536879"/>
              <a:ext cx="201769" cy="2644462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9938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F50E9-D898-6470-03FC-1838451E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5299611-E8FA-AAFC-AE08-82D9B69CD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Circuit Construction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9A785-699D-EED2-7B1D-BE35CB54DB54}"/>
              </a:ext>
            </a:extLst>
          </p:cNvPr>
          <p:cNvSpPr/>
          <p:nvPr/>
        </p:nvSpPr>
        <p:spPr>
          <a:xfrm>
            <a:off x="152400" y="762000"/>
            <a:ext cx="8915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Prototyping board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Pre-connected conductor stripes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Horizontal stripes on 2 top rows and 2 bottom rows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Vertical stripes in the middle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D186B-EEB4-524E-AC34-A672B241CE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61" t="3883" r="5697" b="5289"/>
          <a:stretch/>
        </p:blipFill>
        <p:spPr>
          <a:xfrm rot="16200000">
            <a:off x="2210483" y="1534149"/>
            <a:ext cx="4310909" cy="598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3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itchFamily="34" charset="0"/>
                <a:cs typeface="Arial" pitchFamily="34" charset="0"/>
              </a:rPr>
              <a:t>Arduino Reference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505832" y="813562"/>
            <a:ext cx="43053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https://kku.world/e664b0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0AD645-533F-48A8-9144-C45F476C1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846" y="1464545"/>
            <a:ext cx="6993272" cy="519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42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2968679" y="0"/>
            <a:ext cx="3492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Hardware Interrupt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1A0E2-BD26-4E9A-929C-2D49F8CB7439}"/>
              </a:ext>
            </a:extLst>
          </p:cNvPr>
          <p:cNvSpPr txBox="1"/>
          <p:nvPr/>
        </p:nvSpPr>
        <p:spPr>
          <a:xfrm>
            <a:off x="54480" y="679015"/>
            <a:ext cx="91805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Interrupt is a mechanism in microcontroller to handle event triggered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    by software or internal/external hardware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Interrupt can reduce processor load significantly when monitoring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signal from hardware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B750EAD-D7C8-780C-E397-72747DDB370E}"/>
              </a:ext>
            </a:extLst>
          </p:cNvPr>
          <p:cNvGrpSpPr/>
          <p:nvPr/>
        </p:nvGrpSpPr>
        <p:grpSpPr>
          <a:xfrm>
            <a:off x="1254522" y="3603364"/>
            <a:ext cx="1181026" cy="336748"/>
            <a:chOff x="1257413" y="3260950"/>
            <a:chExt cx="1181026" cy="3367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F40E44-EEE1-1B81-F94E-F6B263B9B0FE}"/>
                </a:ext>
              </a:extLst>
            </p:cNvPr>
            <p:cNvSpPr/>
            <p:nvPr/>
          </p:nvSpPr>
          <p:spPr>
            <a:xfrm>
              <a:off x="1257413" y="3260950"/>
              <a:ext cx="1181026" cy="19471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Read GPIO 2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0839DB35-F464-8E7A-50B6-CB27BF4CAE50}"/>
                </a:ext>
              </a:extLst>
            </p:cNvPr>
            <p:cNvSpPr/>
            <p:nvPr/>
          </p:nvSpPr>
          <p:spPr>
            <a:xfrm>
              <a:off x="1765017" y="3459775"/>
              <a:ext cx="165818" cy="137923"/>
            </a:xfrm>
            <a:prstGeom prst="down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1A1148A-445D-FBFE-28A2-8D9B8D5A5BE4}"/>
              </a:ext>
            </a:extLst>
          </p:cNvPr>
          <p:cNvGrpSpPr/>
          <p:nvPr/>
        </p:nvGrpSpPr>
        <p:grpSpPr>
          <a:xfrm>
            <a:off x="1257413" y="2883696"/>
            <a:ext cx="1181026" cy="332639"/>
            <a:chOff x="765908" y="3106615"/>
            <a:chExt cx="1363784" cy="64086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3255C0-67ED-4465-E46A-A4F812E606EC}"/>
                </a:ext>
              </a:extLst>
            </p:cNvPr>
            <p:cNvSpPr/>
            <p:nvPr/>
          </p:nvSpPr>
          <p:spPr>
            <a:xfrm>
              <a:off x="765908" y="3106615"/>
              <a:ext cx="1363784" cy="37513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Read GPIO 1</a:t>
              </a:r>
              <a:endParaRPr lang="en-US" dirty="0"/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AE21D4D3-4381-DBFB-AB99-33AA2DE52C27}"/>
                </a:ext>
              </a:extLst>
            </p:cNvPr>
            <p:cNvSpPr/>
            <p:nvPr/>
          </p:nvSpPr>
          <p:spPr>
            <a:xfrm>
              <a:off x="1352061" y="3481754"/>
              <a:ext cx="191477" cy="26572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DA6DCF-C0D2-207F-DCD7-F2F44229C2CB}"/>
              </a:ext>
            </a:extLst>
          </p:cNvPr>
          <p:cNvGrpSpPr/>
          <p:nvPr/>
        </p:nvGrpSpPr>
        <p:grpSpPr>
          <a:xfrm>
            <a:off x="1257413" y="4631810"/>
            <a:ext cx="1181026" cy="332639"/>
            <a:chOff x="763521" y="4983034"/>
            <a:chExt cx="1363784" cy="64086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B5DE67-B4D5-B3E0-5B73-0D65E33349EF}"/>
                </a:ext>
              </a:extLst>
            </p:cNvPr>
            <p:cNvSpPr/>
            <p:nvPr/>
          </p:nvSpPr>
          <p:spPr>
            <a:xfrm>
              <a:off x="763521" y="4983034"/>
              <a:ext cx="1363784" cy="375139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Read GPIO n</a:t>
              </a:r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84479F2A-5958-94AC-B3B2-A5455FC86F47}"/>
                </a:ext>
              </a:extLst>
            </p:cNvPr>
            <p:cNvSpPr/>
            <p:nvPr/>
          </p:nvSpPr>
          <p:spPr>
            <a:xfrm>
              <a:off x="1349674" y="5358173"/>
              <a:ext cx="191477" cy="265723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B40219-AADB-D279-0745-8A6E54694813}"/>
              </a:ext>
            </a:extLst>
          </p:cNvPr>
          <p:cNvGrpSpPr/>
          <p:nvPr/>
        </p:nvGrpSpPr>
        <p:grpSpPr>
          <a:xfrm>
            <a:off x="1815900" y="4344767"/>
            <a:ext cx="45719" cy="210793"/>
            <a:chOff x="1414152" y="4501804"/>
            <a:chExt cx="65418" cy="406113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34CD4F2-8744-E00C-8035-E913B20EEF97}"/>
                </a:ext>
              </a:extLst>
            </p:cNvPr>
            <p:cNvSpPr/>
            <p:nvPr/>
          </p:nvSpPr>
          <p:spPr>
            <a:xfrm>
              <a:off x="1416028" y="4501804"/>
              <a:ext cx="62523" cy="5470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E3B3F98-7DB6-D357-F879-16213914E62E}"/>
                </a:ext>
              </a:extLst>
            </p:cNvPr>
            <p:cNvSpPr/>
            <p:nvPr/>
          </p:nvSpPr>
          <p:spPr>
            <a:xfrm>
              <a:off x="1417047" y="4614258"/>
              <a:ext cx="62523" cy="5470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0428476-C8B9-9E06-A4F8-D52501C9F520}"/>
                </a:ext>
              </a:extLst>
            </p:cNvPr>
            <p:cNvSpPr/>
            <p:nvPr/>
          </p:nvSpPr>
          <p:spPr>
            <a:xfrm>
              <a:off x="1416027" y="4737861"/>
              <a:ext cx="62523" cy="5470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16DBCDA-7507-13F4-85F9-B470F86EDFBC}"/>
                </a:ext>
              </a:extLst>
            </p:cNvPr>
            <p:cNvSpPr/>
            <p:nvPr/>
          </p:nvSpPr>
          <p:spPr>
            <a:xfrm>
              <a:off x="1414152" y="4853209"/>
              <a:ext cx="62523" cy="5470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BE5021-C870-1ADF-4950-64E9D1091EA1}"/>
              </a:ext>
            </a:extLst>
          </p:cNvPr>
          <p:cNvGrpSpPr/>
          <p:nvPr/>
        </p:nvGrpSpPr>
        <p:grpSpPr>
          <a:xfrm>
            <a:off x="1254522" y="4995022"/>
            <a:ext cx="1181026" cy="332639"/>
            <a:chOff x="765908" y="3106615"/>
            <a:chExt cx="1363784" cy="64086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EB2D1A9-89E0-B69F-D146-2234D7DCBF32}"/>
                </a:ext>
              </a:extLst>
            </p:cNvPr>
            <p:cNvSpPr/>
            <p:nvPr/>
          </p:nvSpPr>
          <p:spPr>
            <a:xfrm>
              <a:off x="765908" y="3106615"/>
              <a:ext cx="1363784" cy="37514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Routine for GPIO n</a:t>
              </a:r>
              <a:endParaRPr lang="en-US" sz="1200" dirty="0"/>
            </a:p>
          </p:txBody>
        </p:sp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C6BAB753-B595-1AFB-0D8C-557AD2D3D0C8}"/>
                </a:ext>
              </a:extLst>
            </p:cNvPr>
            <p:cNvSpPr/>
            <p:nvPr/>
          </p:nvSpPr>
          <p:spPr>
            <a:xfrm>
              <a:off x="1352061" y="3481754"/>
              <a:ext cx="191477" cy="265723"/>
            </a:xfrm>
            <a:prstGeom prst="down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898AC91-5A0C-548F-53C5-1F9A49895C17}"/>
              </a:ext>
            </a:extLst>
          </p:cNvPr>
          <p:cNvGrpSpPr/>
          <p:nvPr/>
        </p:nvGrpSpPr>
        <p:grpSpPr>
          <a:xfrm>
            <a:off x="1254522" y="3956315"/>
            <a:ext cx="1181026" cy="332639"/>
            <a:chOff x="765908" y="3106615"/>
            <a:chExt cx="1363784" cy="64086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852A9B7-E7A2-B890-F70F-26E858AA485E}"/>
                </a:ext>
              </a:extLst>
            </p:cNvPr>
            <p:cNvSpPr/>
            <p:nvPr/>
          </p:nvSpPr>
          <p:spPr>
            <a:xfrm>
              <a:off x="765908" y="3106615"/>
              <a:ext cx="1363784" cy="37514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Routine for GPIO 2</a:t>
              </a:r>
              <a:endParaRPr lang="en-US" dirty="0"/>
            </a:p>
          </p:txBody>
        </p:sp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id="{AE0D9BDD-CA69-E68B-61C4-926804707003}"/>
                </a:ext>
              </a:extLst>
            </p:cNvPr>
            <p:cNvSpPr/>
            <p:nvPr/>
          </p:nvSpPr>
          <p:spPr>
            <a:xfrm>
              <a:off x="1352061" y="3481754"/>
              <a:ext cx="191477" cy="265723"/>
            </a:xfrm>
            <a:prstGeom prst="down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662CD5-4D9E-C19D-04EB-ACD161B95AA4}"/>
              </a:ext>
            </a:extLst>
          </p:cNvPr>
          <p:cNvGrpSpPr/>
          <p:nvPr/>
        </p:nvGrpSpPr>
        <p:grpSpPr>
          <a:xfrm>
            <a:off x="1257413" y="3238572"/>
            <a:ext cx="1181026" cy="332639"/>
            <a:chOff x="765908" y="3106615"/>
            <a:chExt cx="1363784" cy="64086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99176F6-5CA9-61EA-F6E1-0801C1E90963}"/>
                </a:ext>
              </a:extLst>
            </p:cNvPr>
            <p:cNvSpPr/>
            <p:nvPr/>
          </p:nvSpPr>
          <p:spPr>
            <a:xfrm>
              <a:off x="765908" y="3106615"/>
              <a:ext cx="1363784" cy="37513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Routine for GPIO</a:t>
              </a:r>
              <a:r>
                <a:rPr lang="en-US" sz="1050" dirty="0"/>
                <a:t> 1</a:t>
              </a:r>
              <a:endParaRPr lang="en-US" dirty="0"/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CEEE2ECE-6EC5-BF42-E6FD-7E7DB9EACE43}"/>
                </a:ext>
              </a:extLst>
            </p:cNvPr>
            <p:cNvSpPr/>
            <p:nvPr/>
          </p:nvSpPr>
          <p:spPr>
            <a:xfrm>
              <a:off x="1352061" y="3481754"/>
              <a:ext cx="191477" cy="265723"/>
            </a:xfrm>
            <a:prstGeom prst="down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ight Brace 30">
            <a:extLst>
              <a:ext uri="{FF2B5EF4-FFF2-40B4-BE49-F238E27FC236}">
                <a16:creationId xmlns:a16="http://schemas.microsoft.com/office/drawing/2014/main" id="{4240821F-F368-5852-329A-469BC0CF78D7}"/>
              </a:ext>
            </a:extLst>
          </p:cNvPr>
          <p:cNvSpPr/>
          <p:nvPr/>
        </p:nvSpPr>
        <p:spPr>
          <a:xfrm>
            <a:off x="2558742" y="2913915"/>
            <a:ext cx="298048" cy="2275821"/>
          </a:xfrm>
          <a:prstGeom prst="rightBrace">
            <a:avLst>
              <a:gd name="adj1" fmla="val 8333"/>
              <a:gd name="adj2" fmla="val 5024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CF32D7-2AD1-CC18-BBA2-5DBEFA7C861D}"/>
              </a:ext>
            </a:extLst>
          </p:cNvPr>
          <p:cNvSpPr txBox="1"/>
          <p:nvPr/>
        </p:nvSpPr>
        <p:spPr>
          <a:xfrm>
            <a:off x="2787099" y="3897936"/>
            <a:ext cx="8740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I/O Scan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D484E5A-A305-A6BE-9706-CBB8DAD4EA79}"/>
              </a:ext>
            </a:extLst>
          </p:cNvPr>
          <p:cNvGrpSpPr/>
          <p:nvPr/>
        </p:nvGrpSpPr>
        <p:grpSpPr>
          <a:xfrm>
            <a:off x="1257413" y="5381929"/>
            <a:ext cx="1181026" cy="332639"/>
            <a:chOff x="765908" y="3106615"/>
            <a:chExt cx="1363784" cy="640862"/>
          </a:xfrm>
          <a:solidFill>
            <a:schemeClr val="bg1">
              <a:lumMod val="65000"/>
            </a:schemeClr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DD612B6-9DAD-3882-2C5B-6A59A7EC213B}"/>
                </a:ext>
              </a:extLst>
            </p:cNvPr>
            <p:cNvSpPr/>
            <p:nvPr/>
          </p:nvSpPr>
          <p:spPr>
            <a:xfrm>
              <a:off x="765908" y="3106615"/>
              <a:ext cx="1363784" cy="375139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Next statements</a:t>
              </a:r>
              <a:endParaRPr lang="en-US" dirty="0"/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180761E8-7829-E10C-EF10-8A5ABC18844F}"/>
                </a:ext>
              </a:extLst>
            </p:cNvPr>
            <p:cNvSpPr/>
            <p:nvPr/>
          </p:nvSpPr>
          <p:spPr>
            <a:xfrm>
              <a:off x="1352061" y="3481754"/>
              <a:ext cx="191477" cy="265723"/>
            </a:xfrm>
            <a:prstGeom prst="downArrow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54F3FE8-FAD7-67F4-8FC6-AD3BCEB716BD}"/>
              </a:ext>
            </a:extLst>
          </p:cNvPr>
          <p:cNvCxnSpPr/>
          <p:nvPr/>
        </p:nvCxnSpPr>
        <p:spPr>
          <a:xfrm>
            <a:off x="1847926" y="2632942"/>
            <a:ext cx="0" cy="234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78996B-D0B2-C8B5-EB68-9FE4F79B14A5}"/>
              </a:ext>
            </a:extLst>
          </p:cNvPr>
          <p:cNvCxnSpPr/>
          <p:nvPr/>
        </p:nvCxnSpPr>
        <p:spPr>
          <a:xfrm flipH="1">
            <a:off x="963592" y="2632942"/>
            <a:ext cx="8843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EA4DF79-7049-C62E-0349-11B80486E046}"/>
              </a:ext>
            </a:extLst>
          </p:cNvPr>
          <p:cNvCxnSpPr>
            <a:cxnSpLocks/>
          </p:cNvCxnSpPr>
          <p:nvPr/>
        </p:nvCxnSpPr>
        <p:spPr>
          <a:xfrm>
            <a:off x="960701" y="2630048"/>
            <a:ext cx="0" cy="3429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3BC3B0E-A36F-1CDB-42E0-1C6C3423BF6A}"/>
              </a:ext>
            </a:extLst>
          </p:cNvPr>
          <p:cNvCxnSpPr/>
          <p:nvPr/>
        </p:nvCxnSpPr>
        <p:spPr>
          <a:xfrm flipH="1">
            <a:off x="960701" y="6059048"/>
            <a:ext cx="8843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403EF2E-6B5D-AF3C-9F79-311D99127A1F}"/>
              </a:ext>
            </a:extLst>
          </p:cNvPr>
          <p:cNvCxnSpPr>
            <a:cxnSpLocks/>
          </p:cNvCxnSpPr>
          <p:nvPr/>
        </p:nvCxnSpPr>
        <p:spPr>
          <a:xfrm flipH="1">
            <a:off x="1848728" y="5749426"/>
            <a:ext cx="0" cy="3096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A520BE0-53D4-1F8D-707A-F3434CB1AC0A}"/>
              </a:ext>
            </a:extLst>
          </p:cNvPr>
          <p:cNvSpPr txBox="1"/>
          <p:nvPr/>
        </p:nvSpPr>
        <p:spPr>
          <a:xfrm>
            <a:off x="2864197" y="2342915"/>
            <a:ext cx="11235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I/O Polling</a:t>
            </a:r>
            <a:endParaRPr lang="en-US" sz="14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17264A0-0270-5C99-A1D6-A4ED98699574}"/>
              </a:ext>
            </a:extLst>
          </p:cNvPr>
          <p:cNvSpPr txBox="1"/>
          <p:nvPr/>
        </p:nvSpPr>
        <p:spPr>
          <a:xfrm>
            <a:off x="4208519" y="3216335"/>
            <a:ext cx="37162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Advantages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Implemented in </a:t>
            </a: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</a:t>
            </a:r>
            <a:r>
              <a:rPr lang="en-US" dirty="0" err="1">
                <a:solidFill>
                  <a:srgbClr val="7030A0"/>
                </a:solidFill>
                <a:latin typeface="Calibri" panose="020F0502020204030204"/>
              </a:rPr>
              <a:t>tware</a:t>
            </a: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 only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u="sng" dirty="0">
                <a:solidFill>
                  <a:srgbClr val="7030A0"/>
                </a:solidFill>
                <a:latin typeface="Calibri" panose="020F0502020204030204"/>
              </a:rPr>
              <a:t>Disadvantages</a:t>
            </a: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more CPU time to execute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Slow response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Cannot be used during sleep mode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D9CFE25-B4E9-8667-7155-6E001410E1A6}"/>
              </a:ext>
            </a:extLst>
          </p:cNvPr>
          <p:cNvSpPr txBox="1"/>
          <p:nvPr/>
        </p:nvSpPr>
        <p:spPr>
          <a:xfrm>
            <a:off x="920553" y="2356300"/>
            <a:ext cx="11235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Main loop</a:t>
            </a:r>
            <a:endParaRPr lang="en-US" sz="1400" b="1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17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F38A-8782-460D-66CF-EEA768C6D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E5151E-B12A-7582-2D90-7F59EA733CB1}"/>
              </a:ext>
            </a:extLst>
          </p:cNvPr>
          <p:cNvSpPr txBox="1"/>
          <p:nvPr/>
        </p:nvSpPr>
        <p:spPr>
          <a:xfrm>
            <a:off x="2968679" y="0"/>
            <a:ext cx="3492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Hardware Interrupt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3E304-3D78-BD41-5FB6-13BDDE417FA7}"/>
              </a:ext>
            </a:extLst>
          </p:cNvPr>
          <p:cNvSpPr txBox="1"/>
          <p:nvPr/>
        </p:nvSpPr>
        <p:spPr>
          <a:xfrm>
            <a:off x="54480" y="679015"/>
            <a:ext cx="91805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Interrupt is a mechanism in microcontroller to handle event triggered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    by software or internal/external hardware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Interrupt can reduce processor load significantly when monitoring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signal from hardware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C5F879-D6B8-2284-B0AA-9F0133793092}"/>
              </a:ext>
            </a:extLst>
          </p:cNvPr>
          <p:cNvSpPr txBox="1"/>
          <p:nvPr/>
        </p:nvSpPr>
        <p:spPr>
          <a:xfrm>
            <a:off x="6880317" y="2315448"/>
            <a:ext cx="11235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Interrupt</a:t>
            </a:r>
            <a:endParaRPr lang="en-US" sz="14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D26127-7534-9B63-2A41-041641891ABB}"/>
              </a:ext>
            </a:extLst>
          </p:cNvPr>
          <p:cNvGrpSpPr/>
          <p:nvPr/>
        </p:nvGrpSpPr>
        <p:grpSpPr>
          <a:xfrm>
            <a:off x="552253" y="2997776"/>
            <a:ext cx="4832852" cy="2756670"/>
            <a:chOff x="1025021" y="3060492"/>
            <a:chExt cx="4832852" cy="275667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496DBE6-5D1E-DCD5-F871-26C1CA10D2E0}"/>
                </a:ext>
              </a:extLst>
            </p:cNvPr>
            <p:cNvSpPr/>
            <p:nvPr/>
          </p:nvSpPr>
          <p:spPr>
            <a:xfrm>
              <a:off x="2887290" y="4108775"/>
              <a:ext cx="2970583" cy="1322059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FFFF00"/>
                  </a:solidFill>
                </a:rPr>
                <a:t>Interrupt Service Routine (ISR)</a:t>
              </a:r>
            </a:p>
            <a:p>
              <a:pPr algn="ctr"/>
              <a:r>
                <a:rPr lang="en-US" sz="1200" dirty="0">
                  <a:solidFill>
                    <a:srgbClr val="FFFF00"/>
                  </a:solidFill>
                </a:rPr>
                <a:t>Go to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FFFF00"/>
                  </a:solidFill>
                </a:rPr>
                <a:t>Routing for GPIO1 if signal is from GPIO1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FFFF00"/>
                  </a:solidFill>
                </a:rPr>
                <a:t>Routine for GPIO2 if signal is from GPIO1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FFFF00"/>
                  </a:solidFill>
                </a:rPr>
                <a:t>Routine for GPIO n if signal is from GPIO n</a:t>
              </a:r>
              <a:endParaRPr lang="en-US" sz="1800" dirty="0">
                <a:solidFill>
                  <a:srgbClr val="FFFF00"/>
                </a:solidFill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FFFF00"/>
                </a:solidFill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30E838A-CB09-F026-633A-9645294AFBF6}"/>
                </a:ext>
              </a:extLst>
            </p:cNvPr>
            <p:cNvGrpSpPr/>
            <p:nvPr/>
          </p:nvGrpSpPr>
          <p:grpSpPr>
            <a:xfrm>
              <a:off x="1321733" y="4137231"/>
              <a:ext cx="1181026" cy="332639"/>
              <a:chOff x="765908" y="3106615"/>
              <a:chExt cx="1363784" cy="640862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019E700-099C-D7D8-99BB-BEF281AEC187}"/>
                  </a:ext>
                </a:extLst>
              </p:cNvPr>
              <p:cNvSpPr/>
              <p:nvPr/>
            </p:nvSpPr>
            <p:spPr>
              <a:xfrm>
                <a:off x="765908" y="3106615"/>
                <a:ext cx="1363784" cy="37513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Statement 3</a:t>
                </a:r>
                <a:endParaRPr lang="en-US" dirty="0"/>
              </a:p>
            </p:txBody>
          </p:sp>
          <p:sp>
            <p:nvSpPr>
              <p:cNvPr id="77" name="Arrow: Down 76">
                <a:extLst>
                  <a:ext uri="{FF2B5EF4-FFF2-40B4-BE49-F238E27FC236}">
                    <a16:creationId xmlns:a16="http://schemas.microsoft.com/office/drawing/2014/main" id="{D047D8B5-832C-E348-8B77-7B6D309CD265}"/>
                  </a:ext>
                </a:extLst>
              </p:cNvPr>
              <p:cNvSpPr/>
              <p:nvPr/>
            </p:nvSpPr>
            <p:spPr>
              <a:xfrm>
                <a:off x="1352061" y="3481754"/>
                <a:ext cx="191477" cy="265723"/>
              </a:xfrm>
              <a:prstGeom prst="downArrow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620299E-FE09-F4F3-070E-3D89CCBB3C89}"/>
                </a:ext>
              </a:extLst>
            </p:cNvPr>
            <p:cNvGrpSpPr/>
            <p:nvPr/>
          </p:nvGrpSpPr>
          <p:grpSpPr>
            <a:xfrm>
              <a:off x="1321733" y="3788854"/>
              <a:ext cx="1181026" cy="332639"/>
              <a:chOff x="765908" y="3106615"/>
              <a:chExt cx="1363784" cy="640862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36FBF08A-7CA5-A011-32A8-7419C4FCED19}"/>
                  </a:ext>
                </a:extLst>
              </p:cNvPr>
              <p:cNvSpPr/>
              <p:nvPr/>
            </p:nvSpPr>
            <p:spPr>
              <a:xfrm>
                <a:off x="765908" y="3106615"/>
                <a:ext cx="1363784" cy="37513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Statement 2</a:t>
                </a:r>
                <a:endParaRPr lang="en-US" dirty="0"/>
              </a:p>
            </p:txBody>
          </p:sp>
          <p:sp>
            <p:nvSpPr>
              <p:cNvPr id="75" name="Arrow: Down 74">
                <a:extLst>
                  <a:ext uri="{FF2B5EF4-FFF2-40B4-BE49-F238E27FC236}">
                    <a16:creationId xmlns:a16="http://schemas.microsoft.com/office/drawing/2014/main" id="{FFD442EB-1E77-BDF8-28EB-33140430BF25}"/>
                  </a:ext>
                </a:extLst>
              </p:cNvPr>
              <p:cNvSpPr/>
              <p:nvPr/>
            </p:nvSpPr>
            <p:spPr>
              <a:xfrm>
                <a:off x="1352061" y="3481754"/>
                <a:ext cx="191477" cy="265723"/>
              </a:xfrm>
              <a:prstGeom prst="downArrow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9EDE502-69E5-A17C-A11F-ACCC07CE3DB0}"/>
                </a:ext>
              </a:extLst>
            </p:cNvPr>
            <p:cNvGrpSpPr/>
            <p:nvPr/>
          </p:nvGrpSpPr>
          <p:grpSpPr>
            <a:xfrm>
              <a:off x="1321733" y="3447171"/>
              <a:ext cx="1181026" cy="332639"/>
              <a:chOff x="765908" y="3106615"/>
              <a:chExt cx="1363784" cy="640862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C97C522-D691-4784-B845-B25690D125D2}"/>
                  </a:ext>
                </a:extLst>
              </p:cNvPr>
              <p:cNvSpPr/>
              <p:nvPr/>
            </p:nvSpPr>
            <p:spPr>
              <a:xfrm>
                <a:off x="765908" y="3106615"/>
                <a:ext cx="1363784" cy="37513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Statement 1</a:t>
                </a:r>
                <a:endParaRPr lang="en-US" dirty="0"/>
              </a:p>
            </p:txBody>
          </p:sp>
          <p:sp>
            <p:nvSpPr>
              <p:cNvPr id="73" name="Arrow: Down 72">
                <a:extLst>
                  <a:ext uri="{FF2B5EF4-FFF2-40B4-BE49-F238E27FC236}">
                    <a16:creationId xmlns:a16="http://schemas.microsoft.com/office/drawing/2014/main" id="{BCB930A0-B711-A705-BFCB-EDB4A9E4C12A}"/>
                  </a:ext>
                </a:extLst>
              </p:cNvPr>
              <p:cNvSpPr/>
              <p:nvPr/>
            </p:nvSpPr>
            <p:spPr>
              <a:xfrm>
                <a:off x="1352061" y="3481754"/>
                <a:ext cx="191477" cy="265723"/>
              </a:xfrm>
              <a:prstGeom prst="downArrow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A426FCB-84EB-D8E0-80BA-7E8F94CEE31E}"/>
                </a:ext>
              </a:extLst>
            </p:cNvPr>
            <p:cNvGrpSpPr/>
            <p:nvPr/>
          </p:nvGrpSpPr>
          <p:grpSpPr>
            <a:xfrm>
              <a:off x="1321733" y="4498266"/>
              <a:ext cx="1181026" cy="332639"/>
              <a:chOff x="765908" y="3106615"/>
              <a:chExt cx="1363784" cy="640862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0A3C4949-D5FB-6FA9-4574-AEB0185A88A3}"/>
                  </a:ext>
                </a:extLst>
              </p:cNvPr>
              <p:cNvSpPr/>
              <p:nvPr/>
            </p:nvSpPr>
            <p:spPr>
              <a:xfrm>
                <a:off x="765908" y="3106615"/>
                <a:ext cx="1363784" cy="37513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Statement n</a:t>
                </a:r>
                <a:endParaRPr lang="en-US" dirty="0"/>
              </a:p>
            </p:txBody>
          </p:sp>
          <p:sp>
            <p:nvSpPr>
              <p:cNvPr id="71" name="Arrow: Down 70">
                <a:extLst>
                  <a:ext uri="{FF2B5EF4-FFF2-40B4-BE49-F238E27FC236}">
                    <a16:creationId xmlns:a16="http://schemas.microsoft.com/office/drawing/2014/main" id="{A300CC13-CF09-E492-A5BC-18E0B2FB6E3C}"/>
                  </a:ext>
                </a:extLst>
              </p:cNvPr>
              <p:cNvSpPr/>
              <p:nvPr/>
            </p:nvSpPr>
            <p:spPr>
              <a:xfrm>
                <a:off x="1352061" y="3481754"/>
                <a:ext cx="191477" cy="265723"/>
              </a:xfrm>
              <a:prstGeom prst="downArrow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9158573-CD94-CCF8-C050-E1233B600FEE}"/>
                </a:ext>
              </a:extLst>
            </p:cNvPr>
            <p:cNvCxnSpPr/>
            <p:nvPr/>
          </p:nvCxnSpPr>
          <p:spPr>
            <a:xfrm>
              <a:off x="1912246" y="3149905"/>
              <a:ext cx="0" cy="2343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28F8579-90C2-BCA3-B6A0-69C371E91444}"/>
                </a:ext>
              </a:extLst>
            </p:cNvPr>
            <p:cNvCxnSpPr/>
            <p:nvPr/>
          </p:nvCxnSpPr>
          <p:spPr>
            <a:xfrm flipH="1">
              <a:off x="1027912" y="3149905"/>
              <a:ext cx="88433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0943ADE-7DE7-16CD-ED02-48E758E58E0B}"/>
                </a:ext>
              </a:extLst>
            </p:cNvPr>
            <p:cNvCxnSpPr>
              <a:cxnSpLocks/>
            </p:cNvCxnSpPr>
            <p:nvPr/>
          </p:nvCxnSpPr>
          <p:spPr>
            <a:xfrm>
              <a:off x="1025021" y="3147011"/>
              <a:ext cx="0" cy="20732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F4EDC1F-4390-4DD5-922B-915322F58E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5021" y="5220286"/>
              <a:ext cx="8872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784B093-9A3C-54A3-61B9-D12EB647503F}"/>
                </a:ext>
              </a:extLst>
            </p:cNvPr>
            <p:cNvCxnSpPr>
              <a:cxnSpLocks/>
            </p:cNvCxnSpPr>
            <p:nvPr/>
          </p:nvCxnSpPr>
          <p:spPr>
            <a:xfrm>
              <a:off x="1917157" y="4875717"/>
              <a:ext cx="0" cy="3445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Lightning Bolt 91">
              <a:extLst>
                <a:ext uri="{FF2B5EF4-FFF2-40B4-BE49-F238E27FC236}">
                  <a16:creationId xmlns:a16="http://schemas.microsoft.com/office/drawing/2014/main" id="{8B7D4D83-4A3B-DDD5-F243-F61B45FF73E7}"/>
                </a:ext>
              </a:extLst>
            </p:cNvPr>
            <p:cNvSpPr/>
            <p:nvPr/>
          </p:nvSpPr>
          <p:spPr>
            <a:xfrm flipH="1">
              <a:off x="2590701" y="3288479"/>
              <a:ext cx="678458" cy="332639"/>
            </a:xfrm>
            <a:prstGeom prst="lightningBol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64982112-FC75-782E-A176-E72A5E0F2D38}"/>
                </a:ext>
              </a:extLst>
            </p:cNvPr>
            <p:cNvSpPr txBox="1"/>
            <p:nvPr/>
          </p:nvSpPr>
          <p:spPr>
            <a:xfrm>
              <a:off x="3027482" y="3060492"/>
              <a:ext cx="140685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</a:rPr>
                <a:t>Interrupt signal</a:t>
              </a:r>
              <a:endPara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4B96596-6860-64BD-69BE-46AB2DE1A44E}"/>
                </a:ext>
              </a:extLst>
            </p:cNvPr>
            <p:cNvCxnSpPr>
              <a:cxnSpLocks/>
            </p:cNvCxnSpPr>
            <p:nvPr/>
          </p:nvCxnSpPr>
          <p:spPr>
            <a:xfrm>
              <a:off x="2028944" y="3682273"/>
              <a:ext cx="2343637" cy="0"/>
            </a:xfrm>
            <a:prstGeom prst="line">
              <a:avLst/>
            </a:prstGeom>
            <a:ln w="19050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F77196E2-DDEA-A32B-6C93-CBA64BC5C68E}"/>
                </a:ext>
              </a:extLst>
            </p:cNvPr>
            <p:cNvCxnSpPr>
              <a:cxnSpLocks/>
            </p:cNvCxnSpPr>
            <p:nvPr/>
          </p:nvCxnSpPr>
          <p:spPr>
            <a:xfrm>
              <a:off x="4377128" y="3677378"/>
              <a:ext cx="0" cy="417668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1992201A-3C64-893C-80FD-930B93C015EC}"/>
                </a:ext>
              </a:extLst>
            </p:cNvPr>
            <p:cNvCxnSpPr/>
            <p:nvPr/>
          </p:nvCxnSpPr>
          <p:spPr>
            <a:xfrm>
              <a:off x="4372581" y="5459340"/>
              <a:ext cx="0" cy="356544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446156C-635B-4CDD-A42D-57C487DAFD25}"/>
                </a:ext>
              </a:extLst>
            </p:cNvPr>
            <p:cNvCxnSpPr>
              <a:cxnSpLocks/>
            </p:cNvCxnSpPr>
            <p:nvPr/>
          </p:nvCxnSpPr>
          <p:spPr>
            <a:xfrm>
              <a:off x="2695821" y="5815884"/>
              <a:ext cx="1676760" cy="0"/>
            </a:xfrm>
            <a:prstGeom prst="line">
              <a:avLst/>
            </a:prstGeom>
            <a:ln w="19050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277A93E-F8D9-4863-0330-C622746DF4A6}"/>
                </a:ext>
              </a:extLst>
            </p:cNvPr>
            <p:cNvCxnSpPr>
              <a:cxnSpLocks/>
            </p:cNvCxnSpPr>
            <p:nvPr/>
          </p:nvCxnSpPr>
          <p:spPr>
            <a:xfrm>
              <a:off x="2695821" y="3744675"/>
              <a:ext cx="0" cy="2072487"/>
            </a:xfrm>
            <a:prstGeom prst="line">
              <a:avLst/>
            </a:prstGeom>
            <a:ln w="19050">
              <a:solidFill>
                <a:srgbClr val="00206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94EAEF7-D85A-142D-5869-6EC7B1E282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8944" y="3743397"/>
              <a:ext cx="666877" cy="0"/>
            </a:xfrm>
            <a:prstGeom prst="straightConnector1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sysDot"/>
              <a:headEnd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F024C14-48DD-E71B-C6F2-C843067DF035}"/>
              </a:ext>
            </a:extLst>
          </p:cNvPr>
          <p:cNvSpPr txBox="1"/>
          <p:nvPr/>
        </p:nvSpPr>
        <p:spPr>
          <a:xfrm>
            <a:off x="2950690" y="5701793"/>
            <a:ext cx="19590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This process is </a:t>
            </a:r>
          </a:p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handled by hardware</a:t>
            </a:r>
            <a:endParaRPr lang="en-US" sz="1400" dirty="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1DE140-BAB5-1614-4FED-4811559C0487}"/>
              </a:ext>
            </a:extLst>
          </p:cNvPr>
          <p:cNvSpPr txBox="1"/>
          <p:nvPr/>
        </p:nvSpPr>
        <p:spPr>
          <a:xfrm>
            <a:off x="5605757" y="2623225"/>
            <a:ext cx="34207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Advantages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Fast response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Free CPU for another task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Can be used during sleep mode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u="sng" dirty="0">
                <a:solidFill>
                  <a:srgbClr val="7030A0"/>
                </a:solidFill>
                <a:latin typeface="Calibri" panose="020F0502020204030204"/>
              </a:rPr>
              <a:t>Disadvantages</a:t>
            </a: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: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Require hardware support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B8A3A2-B18A-F1E1-70F8-C77509AAFD54}"/>
              </a:ext>
            </a:extLst>
          </p:cNvPr>
          <p:cNvSpPr txBox="1"/>
          <p:nvPr/>
        </p:nvSpPr>
        <p:spPr>
          <a:xfrm>
            <a:off x="510978" y="2795377"/>
            <a:ext cx="11235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Main loop</a:t>
            </a:r>
            <a:endParaRPr lang="en-US" sz="1400" b="1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49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1495-71C6-5E2C-56F9-D5F696B7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FFCD7E-19D4-4FB9-9331-0B5EB44C251F}"/>
              </a:ext>
            </a:extLst>
          </p:cNvPr>
          <p:cNvSpPr txBox="1"/>
          <p:nvPr/>
        </p:nvSpPr>
        <p:spPr>
          <a:xfrm>
            <a:off x="2968679" y="0"/>
            <a:ext cx="3492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Hardware Interrupt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7542BA1-95CA-673C-B1A6-9FD715570251}"/>
              </a:ext>
            </a:extLst>
          </p:cNvPr>
          <p:cNvGrpSpPr/>
          <p:nvPr/>
        </p:nvGrpSpPr>
        <p:grpSpPr>
          <a:xfrm>
            <a:off x="620615" y="1189740"/>
            <a:ext cx="4696128" cy="3440271"/>
            <a:chOff x="2761289" y="1598814"/>
            <a:chExt cx="4696128" cy="344027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3FAB03C-DD27-BF00-6454-EDAB502EB6D1}"/>
                </a:ext>
              </a:extLst>
            </p:cNvPr>
            <p:cNvSpPr/>
            <p:nvPr/>
          </p:nvSpPr>
          <p:spPr>
            <a:xfrm>
              <a:off x="4368354" y="1938834"/>
              <a:ext cx="1480457" cy="3100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272CB2-0A12-5687-9DE6-3F7299AF299E}"/>
                </a:ext>
              </a:extLst>
            </p:cNvPr>
            <p:cNvSpPr txBox="1"/>
            <p:nvPr/>
          </p:nvSpPr>
          <p:spPr>
            <a:xfrm>
              <a:off x="4751671" y="1598814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C41D5AC-465F-4B58-CE8B-6C1CE115C7FA}"/>
                </a:ext>
              </a:extLst>
            </p:cNvPr>
            <p:cNvSpPr txBox="1"/>
            <p:nvPr/>
          </p:nvSpPr>
          <p:spPr>
            <a:xfrm>
              <a:off x="5494614" y="3021338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D23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FABC30-5F5E-3A6B-8A9D-65E7DBDE9B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28270" y="3153133"/>
              <a:ext cx="644146" cy="759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F85AF8E-66B7-7B07-4CE0-1EAFAAA55CBA}"/>
                </a:ext>
              </a:extLst>
            </p:cNvPr>
            <p:cNvCxnSpPr>
              <a:cxnSpLocks/>
              <a:endCxn id="72" idx="2"/>
            </p:cNvCxnSpPr>
            <p:nvPr/>
          </p:nvCxnSpPr>
          <p:spPr>
            <a:xfrm flipH="1">
              <a:off x="3698313" y="2286366"/>
              <a:ext cx="67004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D7DC2A9-1488-5312-DC3A-1311B03F7A48}"/>
                </a:ext>
              </a:extLst>
            </p:cNvPr>
            <p:cNvSpPr txBox="1"/>
            <p:nvPr/>
          </p:nvSpPr>
          <p:spPr>
            <a:xfrm>
              <a:off x="4308084" y="2149494"/>
              <a:ext cx="2680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FF0000"/>
                  </a:solidFill>
                </a:rPr>
                <a:t>V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F63F1F0-D308-D7DC-0A37-154C5F6EB1BF}"/>
                </a:ext>
              </a:extLst>
            </p:cNvPr>
            <p:cNvSpPr txBox="1"/>
            <p:nvPr/>
          </p:nvSpPr>
          <p:spPr>
            <a:xfrm>
              <a:off x="4308845" y="3021338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D19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593D899-E0FA-6FB9-FB54-DB4222A91528}"/>
                </a:ext>
              </a:extLst>
            </p:cNvPr>
            <p:cNvGrpSpPr/>
            <p:nvPr/>
          </p:nvGrpSpPr>
          <p:grpSpPr>
            <a:xfrm>
              <a:off x="6178644" y="3839691"/>
              <a:ext cx="423190" cy="256140"/>
              <a:chOff x="4156505" y="3603046"/>
              <a:chExt cx="423190" cy="25614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D28CE38B-6D8A-934F-93F0-C6E5F30C4D3C}"/>
                  </a:ext>
                </a:extLst>
              </p:cNvPr>
              <p:cNvCxnSpPr/>
              <p:nvPr/>
            </p:nvCxnSpPr>
            <p:spPr>
              <a:xfrm>
                <a:off x="4420856" y="3767745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F27DC09-832A-3199-9199-D369D0912F3D}"/>
                  </a:ext>
                </a:extLst>
              </p:cNvPr>
              <p:cNvSpPr txBox="1"/>
              <p:nvPr/>
            </p:nvSpPr>
            <p:spPr>
              <a:xfrm>
                <a:off x="4156505" y="3634846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76EE006F-0FDE-1EC6-29F6-1FA4A72E6F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7686" y="3808528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96ACD32-F0FF-26A9-530B-53C0180BE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9150" y="3859186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291AAE01-E152-73FB-244A-7C8A752C98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9797" y="3603046"/>
                <a:ext cx="0" cy="16469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F45DA5F-6D13-5BB1-B382-546BDE876DF0}"/>
                </a:ext>
              </a:extLst>
            </p:cNvPr>
            <p:cNvGrpSpPr/>
            <p:nvPr/>
          </p:nvGrpSpPr>
          <p:grpSpPr>
            <a:xfrm flipH="1">
              <a:off x="6401013" y="2261283"/>
              <a:ext cx="340342" cy="1569823"/>
              <a:chOff x="7123578" y="3030866"/>
              <a:chExt cx="340342" cy="1569823"/>
            </a:xfrm>
          </p:grpSpPr>
          <p:pic>
            <p:nvPicPr>
              <p:cNvPr id="21" name="Picture 20" descr="A black and white symbol&#10;&#10;Description automatically generated">
                <a:extLst>
                  <a:ext uri="{FF2B5EF4-FFF2-40B4-BE49-F238E27FC236}">
                    <a16:creationId xmlns:a16="http://schemas.microsoft.com/office/drawing/2014/main" id="{BC9546EE-68FC-F290-935A-0140BDE0D7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rcRect b="43436"/>
              <a:stretch/>
            </p:blipFill>
            <p:spPr>
              <a:xfrm rot="16200000" flipH="1">
                <a:off x="6957320" y="3493603"/>
                <a:ext cx="611557" cy="279042"/>
              </a:xfrm>
              <a:prstGeom prst="rect">
                <a:avLst/>
              </a:prstGeom>
            </p:spPr>
          </p:pic>
          <p:pic>
            <p:nvPicPr>
              <p:cNvPr id="23" name="Picture 22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18E5C9A1-EFEE-8B4D-9F9E-A2EA8CA600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rcRect l="19824" t="1" r="18873" b="-3"/>
              <a:stretch/>
            </p:blipFill>
            <p:spPr>
              <a:xfrm rot="16200000">
                <a:off x="6991304" y="4128072"/>
                <a:ext cx="695460" cy="249773"/>
              </a:xfrm>
              <a:prstGeom prst="rect">
                <a:avLst/>
              </a:prstGeom>
            </p:spPr>
          </p:pic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FBBE6A-1E99-7126-E08B-F533345B685A}"/>
                  </a:ext>
                </a:extLst>
              </p:cNvPr>
              <p:cNvSpPr/>
              <p:nvPr/>
            </p:nvSpPr>
            <p:spPr>
              <a:xfrm>
                <a:off x="7298250" y="3896643"/>
                <a:ext cx="81567" cy="8156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18E3F99D-7F6C-D99D-1441-CC7C348C41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2776" y="3061137"/>
                <a:ext cx="1429" cy="2705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F1B82B-1F27-71EE-B831-18F917C28C8A}"/>
                  </a:ext>
                </a:extLst>
              </p:cNvPr>
              <p:cNvSpPr/>
              <p:nvPr/>
            </p:nvSpPr>
            <p:spPr>
              <a:xfrm>
                <a:off x="7298250" y="3030866"/>
                <a:ext cx="81567" cy="8156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77043CF-F93E-FA72-6425-CB7D94EC2FDE}"/>
                </a:ext>
              </a:extLst>
            </p:cNvPr>
            <p:cNvSpPr txBox="1"/>
            <p:nvPr/>
          </p:nvSpPr>
          <p:spPr>
            <a:xfrm>
              <a:off x="6650786" y="2503186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Push-button</a:t>
              </a:r>
            </a:p>
            <a:p>
              <a:r>
                <a:rPr lang="en-US" sz="900" dirty="0"/>
                <a:t>            Switch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295AB68-A930-C831-BC87-AA21987D2CEB}"/>
                </a:ext>
              </a:extLst>
            </p:cNvPr>
            <p:cNvSpPr txBox="1"/>
            <p:nvPr/>
          </p:nvSpPr>
          <p:spPr>
            <a:xfrm>
              <a:off x="6601834" y="3373543"/>
              <a:ext cx="64312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10K Ohm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9D9D5F0-01DF-9CEE-C325-2C4745C4586B}"/>
                </a:ext>
              </a:extLst>
            </p:cNvPr>
            <p:cNvGrpSpPr/>
            <p:nvPr/>
          </p:nvGrpSpPr>
          <p:grpSpPr>
            <a:xfrm>
              <a:off x="2761289" y="2245583"/>
              <a:ext cx="1369475" cy="1834549"/>
              <a:chOff x="2608889" y="2093183"/>
              <a:chExt cx="1369475" cy="1834549"/>
            </a:xfrm>
          </p:grpSpPr>
          <p:pic>
            <p:nvPicPr>
              <p:cNvPr id="67" name="Picture 66" descr="A black and white symbol&#10;&#10;Description automatically generated">
                <a:extLst>
                  <a:ext uri="{FF2B5EF4-FFF2-40B4-BE49-F238E27FC236}">
                    <a16:creationId xmlns:a16="http://schemas.microsoft.com/office/drawing/2014/main" id="{55001D39-9810-7FA4-5640-39419319170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rcRect b="43436"/>
              <a:stretch/>
            </p:blipFill>
            <p:spPr>
              <a:xfrm rot="16200000" flipH="1">
                <a:off x="3204983" y="2555920"/>
                <a:ext cx="611557" cy="279042"/>
              </a:xfrm>
              <a:prstGeom prst="rect">
                <a:avLst/>
              </a:prstGeom>
            </p:spPr>
          </p:pic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2775F74C-90C9-6C7B-CC63-59280C094021}"/>
                  </a:ext>
                </a:extLst>
              </p:cNvPr>
              <p:cNvGrpSpPr/>
              <p:nvPr/>
            </p:nvGrpSpPr>
            <p:grpSpPr>
              <a:xfrm>
                <a:off x="3492927" y="3663006"/>
                <a:ext cx="485437" cy="264726"/>
                <a:chOff x="4420856" y="3603046"/>
                <a:chExt cx="485437" cy="264726"/>
              </a:xfrm>
            </p:grpSpPr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01B35E21-27E2-2FB4-4ED1-8570968F759E}"/>
                    </a:ext>
                  </a:extLst>
                </p:cNvPr>
                <p:cNvCxnSpPr/>
                <p:nvPr/>
              </p:nvCxnSpPr>
              <p:spPr>
                <a:xfrm>
                  <a:off x="4420856" y="3767745"/>
                  <a:ext cx="1588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F59A1663-FE02-6EB6-D461-5BD058175BC2}"/>
                    </a:ext>
                  </a:extLst>
                </p:cNvPr>
                <p:cNvSpPr txBox="1"/>
                <p:nvPr/>
              </p:nvSpPr>
              <p:spPr>
                <a:xfrm>
                  <a:off x="4532473" y="3667717"/>
                  <a:ext cx="373820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700" dirty="0"/>
                    <a:t>GND</a:t>
                  </a:r>
                </a:p>
              </p:txBody>
            </p: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2D005DA6-EE2D-B794-442F-C9D2EF8F20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47686" y="3808528"/>
                  <a:ext cx="10517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8E0434C7-B0C7-3567-F82D-471F82F1F4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69150" y="3859186"/>
                  <a:ext cx="6117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16AD313D-0B48-2D65-236E-6F15149BFE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09797" y="3603046"/>
                  <a:ext cx="0" cy="16469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69" name="Picture 68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E6917E6E-396E-C731-6145-471A19A821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rcRect l="19824" t="1" r="18873" b="-3"/>
              <a:stretch/>
            </p:blipFill>
            <p:spPr>
              <a:xfrm rot="16200000">
                <a:off x="3238967" y="3190389"/>
                <a:ext cx="695460" cy="249773"/>
              </a:xfrm>
              <a:prstGeom prst="rect">
                <a:avLst/>
              </a:prstGeom>
            </p:spPr>
          </p:pic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9D735683-300C-D248-0D26-B658AA269473}"/>
                  </a:ext>
                </a:extLst>
              </p:cNvPr>
              <p:cNvSpPr/>
              <p:nvPr/>
            </p:nvSpPr>
            <p:spPr>
              <a:xfrm>
                <a:off x="3545913" y="2958960"/>
                <a:ext cx="81567" cy="8156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5A3DF13-C2FA-54F7-1866-143B2CAB64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80439" y="2123454"/>
                <a:ext cx="1429" cy="2705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BA6D4D2-779C-9680-2B19-F3DF6DF9E5CA}"/>
                  </a:ext>
                </a:extLst>
              </p:cNvPr>
              <p:cNvSpPr/>
              <p:nvPr/>
            </p:nvSpPr>
            <p:spPr>
              <a:xfrm>
                <a:off x="3545913" y="2093183"/>
                <a:ext cx="81567" cy="8156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A9AE4C6-F97D-3C1D-1523-5F8FF97D9CB0}"/>
                  </a:ext>
                </a:extLst>
              </p:cNvPr>
              <p:cNvSpPr txBox="1"/>
              <p:nvPr/>
            </p:nvSpPr>
            <p:spPr>
              <a:xfrm>
                <a:off x="2608889" y="2476129"/>
                <a:ext cx="8066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Push-button</a:t>
                </a:r>
              </a:p>
              <a:p>
                <a:r>
                  <a:rPr lang="en-US" sz="900" dirty="0"/>
                  <a:t>            Switch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3034718-47C8-4772-3DEE-5B49AB469FAF}"/>
                  </a:ext>
                </a:extLst>
              </p:cNvPr>
              <p:cNvSpPr txBox="1"/>
              <p:nvPr/>
            </p:nvSpPr>
            <p:spPr>
              <a:xfrm>
                <a:off x="2877700" y="3210764"/>
                <a:ext cx="64312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10K Ohm</a:t>
                </a: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4222E1B-2461-7561-D683-E3DEFA0798D1}"/>
                </a:ext>
              </a:extLst>
            </p:cNvPr>
            <p:cNvSpPr txBox="1"/>
            <p:nvPr/>
          </p:nvSpPr>
          <p:spPr>
            <a:xfrm>
              <a:off x="5596149" y="2165599"/>
              <a:ext cx="2680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FF0000"/>
                  </a:solidFill>
                </a:rPr>
                <a:t>V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6F6B7B3-F82C-A4F3-E194-683FB46089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48811" y="2298775"/>
              <a:ext cx="67004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D3052CB-F7C1-1DAB-C794-91BBD5726A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1758" y="3155669"/>
              <a:ext cx="644146" cy="759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0B3C7FDC-6591-DA3E-42F8-7795F0D8C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968" y="2597506"/>
            <a:ext cx="2561184" cy="379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34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531CB-259B-2E92-9093-FEFC4A44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90CC1B-EFFE-9AD5-A83A-48633AA4E0BF}"/>
              </a:ext>
            </a:extLst>
          </p:cNvPr>
          <p:cNvSpPr txBox="1"/>
          <p:nvPr/>
        </p:nvSpPr>
        <p:spPr>
          <a:xfrm>
            <a:off x="2968679" y="0"/>
            <a:ext cx="3492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Hardware Interrupt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AB0EF8-F2FC-A7B9-6827-12AB5EF7E2A3}"/>
              </a:ext>
            </a:extLst>
          </p:cNvPr>
          <p:cNvSpPr txBox="1"/>
          <p:nvPr/>
        </p:nvSpPr>
        <p:spPr>
          <a:xfrm>
            <a:off x="488723" y="770113"/>
            <a:ext cx="55885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I/O polling example: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BasicTwoButton.ino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Calibri" panose="020F0502020204030204"/>
              </a:rPr>
              <a:t>     Open serial monitor to see result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08944-8DD6-41AD-AA1C-A63D13F77866}"/>
              </a:ext>
            </a:extLst>
          </p:cNvPr>
          <p:cNvSpPr txBox="1"/>
          <p:nvPr/>
        </p:nvSpPr>
        <p:spPr>
          <a:xfrm>
            <a:off x="908050" y="1790650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#define Up 17   //Increase value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#define Down 16 //Decrease value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Counter =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setup() {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Serial.begin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(9600);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pinMode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(Up, OUTPUT);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pinMode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(Down, OUTPUT);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loop() {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(Counter);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digitalRead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(Up) == 1)        		Counter++;  	if(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digitalRead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(Down) == 1)    		Counter--;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delay(100);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482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9A67-DC65-8114-45F3-7D96B075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C66C6F-7209-3F8B-1374-8614BF44BD13}"/>
              </a:ext>
            </a:extLst>
          </p:cNvPr>
          <p:cNvSpPr txBox="1"/>
          <p:nvPr/>
        </p:nvSpPr>
        <p:spPr>
          <a:xfrm>
            <a:off x="2968679" y="0"/>
            <a:ext cx="3492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Hardware Interrupt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F7870-A811-479F-AC58-8C1AFAC20230}"/>
              </a:ext>
            </a:extLst>
          </p:cNvPr>
          <p:cNvSpPr txBox="1"/>
          <p:nvPr/>
        </p:nvSpPr>
        <p:spPr>
          <a:xfrm>
            <a:off x="437923" y="495875"/>
            <a:ext cx="60827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I/O polling example: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InterruptTwoButton.ino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latin typeface="Calibri" panose="020F0502020204030204"/>
              </a:rPr>
              <a:t>     Open serial monitor to see result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F3DE5-D3B6-22B8-5273-17B265EA5D8F}"/>
              </a:ext>
            </a:extLst>
          </p:cNvPr>
          <p:cNvSpPr txBox="1"/>
          <p:nvPr/>
        </p:nvSpPr>
        <p:spPr>
          <a:xfrm>
            <a:off x="1308342" y="1369605"/>
            <a:ext cx="758800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Up 17   //Increase value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Down 16 //Decrease value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Counter = 0;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IRAM_ATTR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Up_isr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(){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Counter++;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 IRAM_ATTR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Down_isr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(){  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Counter--;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setup() {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Serial.begin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(9600);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pinMode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(Up, OUTPUT);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pinMode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(Down, OUTPUT);  	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attachInterrupt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(Up,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Up_isr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RISING);  	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attachInterrupt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(Down,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Down_isr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RISING);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loop() {    </a:t>
            </a:r>
          </a:p>
          <a:p>
            <a:pPr lvl="1"/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Serial.println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(Counter);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delay(100);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8B91545-9B7A-5C48-543B-9F894F451530}"/>
              </a:ext>
            </a:extLst>
          </p:cNvPr>
          <p:cNvSpPr/>
          <p:nvPr/>
        </p:nvSpPr>
        <p:spPr>
          <a:xfrm>
            <a:off x="4445000" y="2317750"/>
            <a:ext cx="1165776" cy="2266950"/>
          </a:xfrm>
          <a:custGeom>
            <a:avLst/>
            <a:gdLst>
              <a:gd name="connsiteX0" fmla="*/ 298450 w 1165776"/>
              <a:gd name="connsiteY0" fmla="*/ 2266950 h 2266950"/>
              <a:gd name="connsiteX1" fmla="*/ 1162050 w 1165776"/>
              <a:gd name="connsiteY1" fmla="*/ 711200 h 2266950"/>
              <a:gd name="connsiteX2" fmla="*/ 0 w 1165776"/>
              <a:gd name="connsiteY2" fmla="*/ 0 h 226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5776" h="2266950">
                <a:moveTo>
                  <a:pt x="298450" y="2266950"/>
                </a:moveTo>
                <a:cubicBezTo>
                  <a:pt x="755121" y="1677987"/>
                  <a:pt x="1211792" y="1089025"/>
                  <a:pt x="1162050" y="711200"/>
                </a:cubicBezTo>
                <a:cubicBezTo>
                  <a:pt x="1112308" y="333375"/>
                  <a:pt x="556154" y="166687"/>
                  <a:pt x="0" y="0"/>
                </a:cubicBezTo>
              </a:path>
            </a:pathLst>
          </a:custGeom>
          <a:noFill/>
          <a:ln w="28575">
            <a:solidFill>
              <a:srgbClr val="0070C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D7EE26-9527-A89B-76E3-3CF27C19C639}"/>
              </a:ext>
            </a:extLst>
          </p:cNvPr>
          <p:cNvSpPr/>
          <p:nvPr/>
        </p:nvSpPr>
        <p:spPr>
          <a:xfrm>
            <a:off x="4629151" y="2979417"/>
            <a:ext cx="1104900" cy="1922783"/>
          </a:xfrm>
          <a:custGeom>
            <a:avLst/>
            <a:gdLst>
              <a:gd name="connsiteX0" fmla="*/ 298450 w 1165776"/>
              <a:gd name="connsiteY0" fmla="*/ 2266950 h 2266950"/>
              <a:gd name="connsiteX1" fmla="*/ 1162050 w 1165776"/>
              <a:gd name="connsiteY1" fmla="*/ 711200 h 2266950"/>
              <a:gd name="connsiteX2" fmla="*/ 0 w 1165776"/>
              <a:gd name="connsiteY2" fmla="*/ 0 h 2266950"/>
              <a:gd name="connsiteX0" fmla="*/ 349250 w 1216576"/>
              <a:gd name="connsiteY0" fmla="*/ 1898650 h 1898650"/>
              <a:gd name="connsiteX1" fmla="*/ 1212850 w 1216576"/>
              <a:gd name="connsiteY1" fmla="*/ 342900 h 1898650"/>
              <a:gd name="connsiteX2" fmla="*/ 0 w 1216576"/>
              <a:gd name="connsiteY2" fmla="*/ 0 h 1898650"/>
              <a:gd name="connsiteX0" fmla="*/ 349250 w 1216576"/>
              <a:gd name="connsiteY0" fmla="*/ 1954414 h 1954414"/>
              <a:gd name="connsiteX1" fmla="*/ 1212850 w 1216576"/>
              <a:gd name="connsiteY1" fmla="*/ 398664 h 1954414"/>
              <a:gd name="connsiteX2" fmla="*/ 0 w 1216576"/>
              <a:gd name="connsiteY2" fmla="*/ 55764 h 1954414"/>
              <a:gd name="connsiteX0" fmla="*/ 349250 w 1412379"/>
              <a:gd name="connsiteY0" fmla="*/ 1923342 h 1923342"/>
              <a:gd name="connsiteX1" fmla="*/ 1409700 w 1412379"/>
              <a:gd name="connsiteY1" fmla="*/ 691442 h 1923342"/>
              <a:gd name="connsiteX2" fmla="*/ 0 w 1412379"/>
              <a:gd name="connsiteY2" fmla="*/ 24692 h 1923342"/>
              <a:gd name="connsiteX0" fmla="*/ 488950 w 1552079"/>
              <a:gd name="connsiteY0" fmla="*/ 1923342 h 1923342"/>
              <a:gd name="connsiteX1" fmla="*/ 1549400 w 1552079"/>
              <a:gd name="connsiteY1" fmla="*/ 691442 h 1923342"/>
              <a:gd name="connsiteX2" fmla="*/ 0 w 1552079"/>
              <a:gd name="connsiteY2" fmla="*/ 24692 h 1923342"/>
              <a:gd name="connsiteX0" fmla="*/ 488950 w 1261885"/>
              <a:gd name="connsiteY0" fmla="*/ 1922783 h 1922783"/>
              <a:gd name="connsiteX1" fmla="*/ 1257300 w 1261885"/>
              <a:gd name="connsiteY1" fmla="*/ 703583 h 1922783"/>
              <a:gd name="connsiteX2" fmla="*/ 0 w 1261885"/>
              <a:gd name="connsiteY2" fmla="*/ 24133 h 1922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61885" h="1922783">
                <a:moveTo>
                  <a:pt x="488950" y="1922783"/>
                </a:moveTo>
                <a:cubicBezTo>
                  <a:pt x="945621" y="1333820"/>
                  <a:pt x="1307042" y="1081408"/>
                  <a:pt x="1257300" y="703583"/>
                </a:cubicBezTo>
                <a:cubicBezTo>
                  <a:pt x="1207558" y="325758"/>
                  <a:pt x="600604" y="-107630"/>
                  <a:pt x="0" y="24133"/>
                </a:cubicBezTo>
              </a:path>
            </a:pathLst>
          </a:custGeom>
          <a:noFill/>
          <a:ln w="28575">
            <a:solidFill>
              <a:srgbClr val="00B05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5A7E89-CA9A-0B99-26BE-1C62DA9AC148}"/>
              </a:ext>
            </a:extLst>
          </p:cNvPr>
          <p:cNvGrpSpPr/>
          <p:nvPr/>
        </p:nvGrpSpPr>
        <p:grpSpPr>
          <a:xfrm>
            <a:off x="6456321" y="1205607"/>
            <a:ext cx="2152650" cy="1472261"/>
            <a:chOff x="6456321" y="1205607"/>
            <a:chExt cx="2152650" cy="147226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4C86A44-AAF6-F0E0-849D-7CE17D41706E}"/>
                </a:ext>
              </a:extLst>
            </p:cNvPr>
            <p:cNvGrpSpPr/>
            <p:nvPr/>
          </p:nvGrpSpPr>
          <p:grpSpPr>
            <a:xfrm>
              <a:off x="6456321" y="1205607"/>
              <a:ext cx="2152650" cy="1112143"/>
              <a:chOff x="5670550" y="1631950"/>
              <a:chExt cx="2152650" cy="1112143"/>
            </a:xfrm>
          </p:grpSpPr>
          <p:cxnSp>
            <p:nvCxnSpPr>
              <p:cNvPr id="10" name="Connector: Elbow 9">
                <a:extLst>
                  <a:ext uri="{FF2B5EF4-FFF2-40B4-BE49-F238E27FC236}">
                    <a16:creationId xmlns:a16="http://schemas.microsoft.com/office/drawing/2014/main" id="{10CAF64E-F730-42AE-EEC0-52FA7B7D932F}"/>
                  </a:ext>
                </a:extLst>
              </p:cNvPr>
              <p:cNvCxnSpPr/>
              <p:nvPr/>
            </p:nvCxnSpPr>
            <p:spPr>
              <a:xfrm>
                <a:off x="6388100" y="1631950"/>
                <a:ext cx="1435100" cy="1104900"/>
              </a:xfrm>
              <a:prstGeom prst="bentConnector3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: Elbow 10">
                <a:extLst>
                  <a:ext uri="{FF2B5EF4-FFF2-40B4-BE49-F238E27FC236}">
                    <a16:creationId xmlns:a16="http://schemas.microsoft.com/office/drawing/2014/main" id="{67B4B582-0D40-3954-AE1A-35332AC226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550" y="1639193"/>
                <a:ext cx="1435100" cy="1104900"/>
              </a:xfrm>
              <a:prstGeom prst="bentConnector3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18D2A02-80D0-52EF-B11A-BB8013115C94}"/>
                </a:ext>
              </a:extLst>
            </p:cNvPr>
            <p:cNvCxnSpPr/>
            <p:nvPr/>
          </p:nvCxnSpPr>
          <p:spPr>
            <a:xfrm flipV="1">
              <a:off x="7173871" y="1714500"/>
              <a:ext cx="0" cy="60325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6BC5600-3628-D831-A8B1-EC473E4DC058}"/>
                </a:ext>
              </a:extLst>
            </p:cNvPr>
            <p:cNvSpPr txBox="1"/>
            <p:nvPr/>
          </p:nvSpPr>
          <p:spPr>
            <a:xfrm>
              <a:off x="7057251" y="2370091"/>
              <a:ext cx="11657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</a:rPr>
                <a:t>Rising Edge</a:t>
              </a:r>
              <a:endPara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4CFB6D9-5DB1-5AAA-6E12-1214010E7695}"/>
              </a:ext>
            </a:extLst>
          </p:cNvPr>
          <p:cNvGrpSpPr/>
          <p:nvPr/>
        </p:nvGrpSpPr>
        <p:grpSpPr>
          <a:xfrm>
            <a:off x="6461359" y="3216928"/>
            <a:ext cx="2152650" cy="1498386"/>
            <a:chOff x="6461359" y="3216928"/>
            <a:chExt cx="2152650" cy="149838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0701510-7359-CDF1-72A1-558A5CDA0BAE}"/>
                </a:ext>
              </a:extLst>
            </p:cNvPr>
            <p:cNvGrpSpPr/>
            <p:nvPr/>
          </p:nvGrpSpPr>
          <p:grpSpPr>
            <a:xfrm>
              <a:off x="6461359" y="3216928"/>
              <a:ext cx="2152650" cy="1112143"/>
              <a:chOff x="5670550" y="1631950"/>
              <a:chExt cx="2152650" cy="1112143"/>
            </a:xfrm>
          </p:grpSpPr>
          <p:cxnSp>
            <p:nvCxnSpPr>
              <p:cNvPr id="16" name="Connector: Elbow 15">
                <a:extLst>
                  <a:ext uri="{FF2B5EF4-FFF2-40B4-BE49-F238E27FC236}">
                    <a16:creationId xmlns:a16="http://schemas.microsoft.com/office/drawing/2014/main" id="{7792E6CE-D4A7-A3FE-0533-1546E1E7B1A5}"/>
                  </a:ext>
                </a:extLst>
              </p:cNvPr>
              <p:cNvCxnSpPr/>
              <p:nvPr/>
            </p:nvCxnSpPr>
            <p:spPr>
              <a:xfrm>
                <a:off x="6388100" y="1631950"/>
                <a:ext cx="1435100" cy="1104900"/>
              </a:xfrm>
              <a:prstGeom prst="bentConnector3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or: Elbow 16">
                <a:extLst>
                  <a:ext uri="{FF2B5EF4-FFF2-40B4-BE49-F238E27FC236}">
                    <a16:creationId xmlns:a16="http://schemas.microsoft.com/office/drawing/2014/main" id="{82A1171F-0033-51D5-DBD0-145BF3DBA0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70550" y="1639193"/>
                <a:ext cx="1435100" cy="1104900"/>
              </a:xfrm>
              <a:prstGeom prst="bentConnector3">
                <a:avLst/>
              </a:prstGeom>
              <a:ln w="28575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B78E73C-C26C-7595-CD22-B6B69E92B2DF}"/>
                </a:ext>
              </a:extLst>
            </p:cNvPr>
            <p:cNvCxnSpPr>
              <a:cxnSpLocks/>
            </p:cNvCxnSpPr>
            <p:nvPr/>
          </p:nvCxnSpPr>
          <p:spPr>
            <a:xfrm>
              <a:off x="7891421" y="3224171"/>
              <a:ext cx="0" cy="70957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D3749A9-C8CF-BD90-C383-FC7EF8F4E20D}"/>
                </a:ext>
              </a:extLst>
            </p:cNvPr>
            <p:cNvSpPr txBox="1"/>
            <p:nvPr/>
          </p:nvSpPr>
          <p:spPr>
            <a:xfrm>
              <a:off x="7057250" y="4407537"/>
              <a:ext cx="116577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</a:rPr>
                <a:t>Falling Edge</a:t>
              </a:r>
              <a:endPara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8582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2079393" y="0"/>
            <a:ext cx="5242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ESP32 Wi-Fi Operating Modes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C86AC-8A05-4649-8760-0A2A5BF4AEF8}"/>
              </a:ext>
            </a:extLst>
          </p:cNvPr>
          <p:cNvSpPr txBox="1"/>
          <p:nvPr/>
        </p:nvSpPr>
        <p:spPr>
          <a:xfrm>
            <a:off x="573579" y="853085"/>
            <a:ext cx="82545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ESP32 can operate in 2 different modes: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Station mode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Soft Access Point mode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A76205-98AA-4204-A108-994A7B81C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42" y="2380142"/>
            <a:ext cx="5611091" cy="37855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CAB5C6-B039-2B49-F499-37B6B543CE0C}"/>
              </a:ext>
            </a:extLst>
          </p:cNvPr>
          <p:cNvSpPr/>
          <p:nvPr/>
        </p:nvSpPr>
        <p:spPr>
          <a:xfrm>
            <a:off x="5212938" y="3831529"/>
            <a:ext cx="30046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2.4 GHz. band only</a:t>
            </a:r>
          </a:p>
        </p:txBody>
      </p:sp>
    </p:spTree>
    <p:extLst>
      <p:ext uri="{BB962C8B-B14F-4D97-AF65-F5344CB8AC3E}">
        <p14:creationId xmlns:p14="http://schemas.microsoft.com/office/powerpoint/2010/main" val="2876516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950545" y="0"/>
            <a:ext cx="5242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ESP32 Wi-Fi Operating Modes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C86AC-8A05-4649-8760-0A2A5BF4AEF8}"/>
              </a:ext>
            </a:extLst>
          </p:cNvPr>
          <p:cNvSpPr txBox="1"/>
          <p:nvPr/>
        </p:nvSpPr>
        <p:spPr>
          <a:xfrm>
            <a:off x="573579" y="853085"/>
            <a:ext cx="82545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ESP32 can operate in three different modes: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Station mode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Soft Access Point mode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0D53CD-433D-4F58-80B0-AE609A40C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29" y="2017135"/>
            <a:ext cx="5724525" cy="44862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4216664-1DDB-841F-0A93-B331D271547F}"/>
              </a:ext>
            </a:extLst>
          </p:cNvPr>
          <p:cNvSpPr/>
          <p:nvPr/>
        </p:nvSpPr>
        <p:spPr>
          <a:xfrm>
            <a:off x="4827928" y="3614960"/>
            <a:ext cx="30046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2.4 GHz. band only</a:t>
            </a:r>
          </a:p>
        </p:txBody>
      </p:sp>
    </p:spTree>
    <p:extLst>
      <p:ext uri="{BB962C8B-B14F-4D97-AF65-F5344CB8AC3E}">
        <p14:creationId xmlns:p14="http://schemas.microsoft.com/office/powerpoint/2010/main" val="2957601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B00D6-C108-7887-ACFC-5DF29732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B6A4C5-C118-B93C-BF68-44CCB8D3AA03}"/>
              </a:ext>
            </a:extLst>
          </p:cNvPr>
          <p:cNvSpPr txBox="1"/>
          <p:nvPr/>
        </p:nvSpPr>
        <p:spPr>
          <a:xfrm>
            <a:off x="2469368" y="0"/>
            <a:ext cx="4569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 : Wi-Fi Scanner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670F10-11C3-CB39-C800-043113216EF5}"/>
              </a:ext>
            </a:extLst>
          </p:cNvPr>
          <p:cNvSpPr txBox="1"/>
          <p:nvPr/>
        </p:nvSpPr>
        <p:spPr>
          <a:xfrm>
            <a:off x="120534" y="2536448"/>
            <a:ext cx="890293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void setup()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WiFi.mode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WIFI_STA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	// Set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station mode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WiFi.disconnect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();	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//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Disconnect from AP if it was previously connected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CE844-07C0-1069-615D-B0A8B2A202CD}"/>
              </a:ext>
            </a:extLst>
          </p:cNvPr>
          <p:cNvSpPr txBox="1"/>
          <p:nvPr/>
        </p:nvSpPr>
        <p:spPr>
          <a:xfrm>
            <a:off x="253773" y="843138"/>
            <a:ext cx="78243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example scans available Wi-Fi access points and displays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 information.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Examples 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WiFi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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WiFiScan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2807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2415580" y="0"/>
            <a:ext cx="4569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 : Wi-Fi Scanner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A0EC6-B635-4DC0-B635-384AF8F25F4E}"/>
              </a:ext>
            </a:extLst>
          </p:cNvPr>
          <p:cNvSpPr txBox="1"/>
          <p:nvPr/>
        </p:nvSpPr>
        <p:spPr>
          <a:xfrm>
            <a:off x="99753" y="726091"/>
            <a:ext cx="89860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//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WiFi.scanNetworks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will return the number of networks found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int n =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WiFi.scanNetworks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Serial.println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("scan done");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if (n == 0)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Serial.println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("no networks found");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} else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Serial.print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(n);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Serial.println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 networks found");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for (int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0;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 n; ++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// Print SSID and RSSI (Received Signal Strength Indicator) for each network found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Serial.print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+ 1);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Serial.print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(": 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Serial.print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WiFi.SSID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WiFi.SSID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access point name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Serial.print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 (");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Serial.print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WiFi.RSSI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WiFi.RSSI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access point signal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712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2566110" y="8312"/>
            <a:ext cx="4569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1 : Wi-Fi Scanner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4AC2B9-8669-4691-92AF-AF7258B2E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726091"/>
            <a:ext cx="8181975" cy="3171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D945E9-BE43-4BD9-8E90-B82B943CBD60}"/>
              </a:ext>
            </a:extLst>
          </p:cNvPr>
          <p:cNvSpPr txBox="1"/>
          <p:nvPr/>
        </p:nvSpPr>
        <p:spPr>
          <a:xfrm>
            <a:off x="481012" y="4804757"/>
            <a:ext cx="367292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1: Tenda_A32520 (-58)*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2: WXYZ_2.4GHz (-63)*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0DD68-F731-4F63-99E0-2F1BF9F0FB81}"/>
              </a:ext>
            </a:extLst>
          </p:cNvPr>
          <p:cNvSpPr txBox="1"/>
          <p:nvPr/>
        </p:nvSpPr>
        <p:spPr>
          <a:xfrm>
            <a:off x="948455" y="3986951"/>
            <a:ext cx="1298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 name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CB8EE1-9285-4341-90EF-2136336FC303}"/>
              </a:ext>
            </a:extLst>
          </p:cNvPr>
          <p:cNvSpPr txBox="1"/>
          <p:nvPr/>
        </p:nvSpPr>
        <p:spPr>
          <a:xfrm>
            <a:off x="2518108" y="3999900"/>
            <a:ext cx="2639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Signal Strength (dB)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B5E0040-062F-40B4-B6E6-412938B4CEDE}"/>
              </a:ext>
            </a:extLst>
          </p:cNvPr>
          <p:cNvSpPr/>
          <p:nvPr/>
        </p:nvSpPr>
        <p:spPr>
          <a:xfrm>
            <a:off x="1597831" y="4406497"/>
            <a:ext cx="133004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A6C5B43-AC3E-460E-AD41-B50B82A3CC6C}"/>
              </a:ext>
            </a:extLst>
          </p:cNvPr>
          <p:cNvSpPr/>
          <p:nvPr/>
        </p:nvSpPr>
        <p:spPr>
          <a:xfrm>
            <a:off x="3447185" y="4406497"/>
            <a:ext cx="133004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F7C86F-2078-4FCE-9113-9775138274E2}"/>
              </a:ext>
            </a:extLst>
          </p:cNvPr>
          <p:cNvCxnSpPr/>
          <p:nvPr/>
        </p:nvCxnSpPr>
        <p:spPr>
          <a:xfrm>
            <a:off x="4039549" y="5018904"/>
            <a:ext cx="165423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436EE53-3973-42B2-B20F-2091ADBDBDA3}"/>
              </a:ext>
            </a:extLst>
          </p:cNvPr>
          <p:cNvCxnSpPr>
            <a:cxnSpLocks/>
          </p:cNvCxnSpPr>
          <p:nvPr/>
        </p:nvCxnSpPr>
        <p:spPr>
          <a:xfrm flipV="1">
            <a:off x="4008086" y="5212688"/>
            <a:ext cx="1685696" cy="21965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11F2B4-8334-4F12-BD18-B62C34A10E69}"/>
              </a:ext>
            </a:extLst>
          </p:cNvPr>
          <p:cNvSpPr txBox="1"/>
          <p:nvPr/>
        </p:nvSpPr>
        <p:spPr>
          <a:xfrm>
            <a:off x="5693782" y="4868484"/>
            <a:ext cx="3183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 required</a:t>
            </a:r>
          </a:p>
        </p:txBody>
      </p:sp>
    </p:spTree>
    <p:extLst>
      <p:ext uri="{BB962C8B-B14F-4D97-AF65-F5344CB8AC3E}">
        <p14:creationId xmlns:p14="http://schemas.microsoft.com/office/powerpoint/2010/main" val="2042365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2496263" y="1676"/>
            <a:ext cx="4307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2 : Hello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F9670-8D64-4063-B568-FD11644EE672}"/>
              </a:ext>
            </a:extLst>
          </p:cNvPr>
          <p:cNvSpPr txBox="1"/>
          <p:nvPr/>
        </p:nvSpPr>
        <p:spPr>
          <a:xfrm>
            <a:off x="656016" y="699445"/>
            <a:ext cx="79878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example setups very simple web server on ESP32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Examples 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WebServer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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HelloServer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316A4-5E4F-4CA8-9480-0CEB3D44AE7F}"/>
              </a:ext>
            </a:extLst>
          </p:cNvPr>
          <p:cNvSpPr txBox="1"/>
          <p:nvPr/>
        </p:nvSpPr>
        <p:spPr>
          <a:xfrm>
            <a:off x="794185" y="2203820"/>
            <a:ext cx="77640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ssid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“………..";		//AP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password = “……….";	//Password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2664C-43B4-42A7-ADE9-B44093664C28}"/>
              </a:ext>
            </a:extLst>
          </p:cNvPr>
          <p:cNvSpPr txBox="1"/>
          <p:nvPr/>
        </p:nvSpPr>
        <p:spPr>
          <a:xfrm>
            <a:off x="794185" y="4346644"/>
            <a:ext cx="79878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ssid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“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Note7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";				//AP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password = “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qwerty1234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";	//Password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88D1597-EFA2-4035-A366-8125E559DAF0}"/>
              </a:ext>
            </a:extLst>
          </p:cNvPr>
          <p:cNvSpPr/>
          <p:nvPr/>
        </p:nvSpPr>
        <p:spPr>
          <a:xfrm>
            <a:off x="4140551" y="3374057"/>
            <a:ext cx="465513" cy="540327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10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2532122" y="-43084"/>
            <a:ext cx="4307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2 : Hello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DD251-3C8D-480F-A2A6-0158487BF4CB}"/>
              </a:ext>
            </a:extLst>
          </p:cNvPr>
          <p:cNvSpPr txBox="1"/>
          <p:nvPr/>
        </p:nvSpPr>
        <p:spPr>
          <a:xfrm>
            <a:off x="850900" y="1007039"/>
            <a:ext cx="7442199" cy="120032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 to Tenda_A32520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address: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192.168.0.101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MDNS responder started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 server started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A30A2-B53E-4BDF-8C38-9394A2A5B008}"/>
              </a:ext>
            </a:extLst>
          </p:cNvPr>
          <p:cNvSpPr txBox="1"/>
          <p:nvPr/>
        </p:nvSpPr>
        <p:spPr>
          <a:xfrm>
            <a:off x="4979185" y="2396951"/>
            <a:ext cx="2641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Address of ESP32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DE9605-722E-4375-9364-78536069898A}"/>
              </a:ext>
            </a:extLst>
          </p:cNvPr>
          <p:cNvCxnSpPr>
            <a:cxnSpLocks/>
          </p:cNvCxnSpPr>
          <p:nvPr/>
        </p:nvCxnSpPr>
        <p:spPr>
          <a:xfrm>
            <a:off x="3475565" y="1483468"/>
            <a:ext cx="1520384" cy="111010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57CE-4BE0-49C5-A4BF-A16ABF41A87D}"/>
              </a:ext>
            </a:extLst>
          </p:cNvPr>
          <p:cNvSpPr txBox="1"/>
          <p:nvPr/>
        </p:nvSpPr>
        <p:spPr>
          <a:xfrm>
            <a:off x="6502571" y="3999385"/>
            <a:ext cx="22341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 your browser and type above IP address in address bar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881A02-0CA2-4963-AD1A-18AB103509AA}"/>
              </a:ext>
            </a:extLst>
          </p:cNvPr>
          <p:cNvGrpSpPr/>
          <p:nvPr/>
        </p:nvGrpSpPr>
        <p:grpSpPr>
          <a:xfrm>
            <a:off x="850900" y="3069999"/>
            <a:ext cx="5562600" cy="3657600"/>
            <a:chOff x="850900" y="3069999"/>
            <a:chExt cx="5562600" cy="36576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8DA7C9B-F8D0-461C-8D77-193001E68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0900" y="3069999"/>
              <a:ext cx="5562600" cy="36576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EE7784C-F074-473E-8277-84F37B1C0038}"/>
                </a:ext>
              </a:extLst>
            </p:cNvPr>
            <p:cNvSpPr txBox="1"/>
            <p:nvPr/>
          </p:nvSpPr>
          <p:spPr>
            <a:xfrm>
              <a:off x="954675" y="3887454"/>
              <a:ext cx="328108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hello from esp32!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1932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2576945" y="0"/>
            <a:ext cx="4307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2 : Hello Server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E48E3-E88A-43C7-83B8-3AE50578D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325" y="2836401"/>
            <a:ext cx="6028333" cy="2838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A1EDE5-7352-49BD-A9AA-861A395AC59C}"/>
              </a:ext>
            </a:extLst>
          </p:cNvPr>
          <p:cNvSpPr txBox="1"/>
          <p:nvPr/>
        </p:nvSpPr>
        <p:spPr>
          <a:xfrm>
            <a:off x="134471" y="663194"/>
            <a:ext cx="90095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a Web server and how it works?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server stores, processes and delivers web pages to Web clients.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 client is nothing but a web browser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communication between client and server takes place using a protocol called Hypertext Transfer Protocol (HTTP).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97BA5-9472-416A-9BF2-36A2F60505D3}"/>
              </a:ext>
            </a:extLst>
          </p:cNvPr>
          <p:cNvSpPr txBox="1"/>
          <p:nvPr/>
        </p:nvSpPr>
        <p:spPr>
          <a:xfrm>
            <a:off x="952500" y="5836217"/>
            <a:ext cx="6676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Browser	 (user)							ESP32</a:t>
            </a:r>
          </a:p>
        </p:txBody>
      </p:sp>
    </p:spTree>
    <p:extLst>
      <p:ext uri="{BB962C8B-B14F-4D97-AF65-F5344CB8AC3E}">
        <p14:creationId xmlns:p14="http://schemas.microsoft.com/office/powerpoint/2010/main" val="1798783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3342975" y="0"/>
            <a:ext cx="259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 Protocol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FD5DAB-62F7-640D-CABA-599D5351D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2492"/>
            <a:ext cx="9144000" cy="450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17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49E6-3685-C624-8B9B-64BCC15F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C6440C-B80A-8C54-45A1-7D982FD98C5C}"/>
              </a:ext>
            </a:extLst>
          </p:cNvPr>
          <p:cNvSpPr txBox="1"/>
          <p:nvPr/>
        </p:nvSpPr>
        <p:spPr>
          <a:xfrm>
            <a:off x="3342975" y="0"/>
            <a:ext cx="259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 Protocol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29606-37B4-E435-FCCE-A10363E03130}"/>
              </a:ext>
            </a:extLst>
          </p:cNvPr>
          <p:cNvSpPr txBox="1"/>
          <p:nvPr/>
        </p:nvSpPr>
        <p:spPr>
          <a:xfrm>
            <a:off x="1270000" y="540007"/>
            <a:ext cx="6838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Client (browser) sends HTTP request to server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2E0AEB-9278-B52A-7A17-D1A570E53DD5}"/>
              </a:ext>
            </a:extLst>
          </p:cNvPr>
          <p:cNvGrpSpPr/>
          <p:nvPr/>
        </p:nvGrpSpPr>
        <p:grpSpPr>
          <a:xfrm>
            <a:off x="1089986" y="2371547"/>
            <a:ext cx="6619625" cy="3743503"/>
            <a:chOff x="308936" y="1590497"/>
            <a:chExt cx="6619625" cy="37435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4550C3A-280F-5F30-E2B8-CD4F8F9659DD}"/>
                </a:ext>
              </a:extLst>
            </p:cNvPr>
            <p:cNvSpPr txBox="1"/>
            <p:nvPr/>
          </p:nvSpPr>
          <p:spPr>
            <a:xfrm>
              <a:off x="2356561" y="1590497"/>
              <a:ext cx="4572000" cy="2400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-Bold"/>
                  <a:ea typeface="+mn-ea"/>
                  <a:cs typeface="+mn-cs"/>
                </a:rPr>
                <a:t>GET /index.html HTTP/1.1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-Bold"/>
                  <a:ea typeface="+mn-ea"/>
                  <a:cs typeface="+mn-cs"/>
                </a:rPr>
                <a:t>Host: www.example.com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-Bold"/>
                  <a:ea typeface="+mn-ea"/>
                  <a:cs typeface="+mn-cs"/>
                </a:rPr>
                <a:t>User-Agent: Mozilla/5.0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-Bold"/>
                  <a:ea typeface="+mn-ea"/>
                  <a:cs typeface="+mn-cs"/>
                </a:rPr>
                <a:t>Accept: text/html, */*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-Bold"/>
                  <a:ea typeface="+mn-ea"/>
                  <a:cs typeface="+mn-cs"/>
                </a:rPr>
                <a:t>Accept-Language: 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-Bold"/>
                  <a:ea typeface="+mn-ea"/>
                  <a:cs typeface="+mn-cs"/>
                </a:rPr>
                <a:t>en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-Bold"/>
                  <a:ea typeface="+mn-ea"/>
                  <a:cs typeface="+mn-cs"/>
                </a:rPr>
                <a:t>-us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-Bold"/>
                  <a:ea typeface="+mn-ea"/>
                  <a:cs typeface="+mn-cs"/>
                </a:rPr>
                <a:t>Accept-Charset: ISO-8859-1,utf-8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-Bold"/>
                  <a:ea typeface="+mn-ea"/>
                  <a:cs typeface="+mn-cs"/>
                </a:rPr>
                <a:t>Connection: keep-alive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A6001E"/>
                  </a:solidFill>
                  <a:effectLst/>
                  <a:uLnTx/>
                  <a:uFillTx/>
                  <a:latin typeface="Arial-ItalicMT"/>
                  <a:ea typeface="+mn-ea"/>
                  <a:cs typeface="+mn-cs"/>
                </a:rPr>
                <a:t>blank line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961A4F11-997C-7C7E-2ACD-136F5493F79E}"/>
                </a:ext>
              </a:extLst>
            </p:cNvPr>
            <p:cNvSpPr/>
            <p:nvPr/>
          </p:nvSpPr>
          <p:spPr>
            <a:xfrm>
              <a:off x="1720138" y="4108450"/>
              <a:ext cx="635001" cy="1225550"/>
            </a:xfrm>
            <a:prstGeom prst="leftBrac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9DAB94-8685-AAB4-BC1C-A0DD58B7A2AA}"/>
                </a:ext>
              </a:extLst>
            </p:cNvPr>
            <p:cNvSpPr txBox="1"/>
            <p:nvPr/>
          </p:nvSpPr>
          <p:spPr>
            <a:xfrm>
              <a:off x="308936" y="2338715"/>
              <a:ext cx="12715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Header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BE39DC77-B396-10BC-B482-399BD1E42902}"/>
                </a:ext>
              </a:extLst>
            </p:cNvPr>
            <p:cNvSpPr/>
            <p:nvPr/>
          </p:nvSpPr>
          <p:spPr>
            <a:xfrm>
              <a:off x="1732838" y="1746250"/>
              <a:ext cx="635001" cy="1727200"/>
            </a:xfrm>
            <a:prstGeom prst="leftBrac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AF9103-B183-F103-A61D-6C32E75C927B}"/>
                </a:ext>
              </a:extLst>
            </p:cNvPr>
            <p:cNvSpPr txBox="1"/>
            <p:nvPr/>
          </p:nvSpPr>
          <p:spPr>
            <a:xfrm>
              <a:off x="308936" y="4294515"/>
              <a:ext cx="161294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Body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(optional)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585AEEA-2812-1336-8F77-99DECD3BD67C}"/>
              </a:ext>
            </a:extLst>
          </p:cNvPr>
          <p:cNvSpPr txBox="1"/>
          <p:nvPr/>
        </p:nvSpPr>
        <p:spPr>
          <a:xfrm>
            <a:off x="3016250" y="1551881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0FADD2-6AF0-3370-5385-BC4EC6B4E5FE}"/>
              </a:ext>
            </a:extLst>
          </p:cNvPr>
          <p:cNvSpPr txBox="1"/>
          <p:nvPr/>
        </p:nvSpPr>
        <p:spPr>
          <a:xfrm>
            <a:off x="4051300" y="154167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URL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957F01-E55B-FE5E-C605-E7C81DEFB9E1}"/>
              </a:ext>
            </a:extLst>
          </p:cNvPr>
          <p:cNvSpPr txBox="1"/>
          <p:nvPr/>
        </p:nvSpPr>
        <p:spPr>
          <a:xfrm>
            <a:off x="5191277" y="1551881"/>
            <a:ext cx="1857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protocol version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96992BB9-7D65-C853-AD2C-B9F067667ECB}"/>
              </a:ext>
            </a:extLst>
          </p:cNvPr>
          <p:cNvSpPr/>
          <p:nvPr/>
        </p:nvSpPr>
        <p:spPr>
          <a:xfrm>
            <a:off x="3295650" y="1911011"/>
            <a:ext cx="260350" cy="4707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D512422B-73D8-1B12-0BCC-BA1FEECB133C}"/>
              </a:ext>
            </a:extLst>
          </p:cNvPr>
          <p:cNvSpPr/>
          <p:nvPr/>
        </p:nvSpPr>
        <p:spPr>
          <a:xfrm>
            <a:off x="4179723" y="1890607"/>
            <a:ext cx="260350" cy="4707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892C34D6-B9EF-A0E9-F155-FA5C3B66DAE5}"/>
              </a:ext>
            </a:extLst>
          </p:cNvPr>
          <p:cNvSpPr/>
          <p:nvPr/>
        </p:nvSpPr>
        <p:spPr>
          <a:xfrm>
            <a:off x="5556252" y="1890607"/>
            <a:ext cx="260350" cy="4707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317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51B3-A664-911A-CDFC-766327D1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7C0214-6ADB-D024-E2A5-44D405D567D7}"/>
              </a:ext>
            </a:extLst>
          </p:cNvPr>
          <p:cNvSpPr txBox="1"/>
          <p:nvPr/>
        </p:nvSpPr>
        <p:spPr>
          <a:xfrm>
            <a:off x="3342975" y="0"/>
            <a:ext cx="259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 Protocol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493FB-0AF0-7188-3E8D-F0585D607EB9}"/>
              </a:ext>
            </a:extLst>
          </p:cNvPr>
          <p:cNvSpPr txBox="1"/>
          <p:nvPr/>
        </p:nvSpPr>
        <p:spPr>
          <a:xfrm>
            <a:off x="514350" y="966787"/>
            <a:ext cx="84201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HTTP Methods (Verbs)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M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● GET - Fetch a URL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● HEAD - Fetch information about a URL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● PUT - Store to an URL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● POST - Send form data to a URL and get a response back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● DELETE - Delete a URL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M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GET and POST (forms) are commonly used.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REST APIs used GET, PUT, POST, and DELETE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594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88920-BF34-D62B-3300-B7E0DBBA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0656B7-5BEE-7883-D8B3-7954A5CE64AD}"/>
              </a:ext>
            </a:extLst>
          </p:cNvPr>
          <p:cNvSpPr txBox="1"/>
          <p:nvPr/>
        </p:nvSpPr>
        <p:spPr>
          <a:xfrm>
            <a:off x="2663525" y="0"/>
            <a:ext cx="4307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2 : Hello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56B23-266C-BCD8-5CBE-0CCF548DC839}"/>
              </a:ext>
            </a:extLst>
          </p:cNvPr>
          <p:cNvSpPr txBox="1"/>
          <p:nvPr/>
        </p:nvSpPr>
        <p:spPr>
          <a:xfrm>
            <a:off x="1200150" y="974209"/>
            <a:ext cx="7296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HTTP Response from web server to client (browser)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8DC97-4DD7-BD7A-98E2-031A51B15008}"/>
              </a:ext>
            </a:extLst>
          </p:cNvPr>
          <p:cNvSpPr txBox="1"/>
          <p:nvPr/>
        </p:nvSpPr>
        <p:spPr>
          <a:xfrm>
            <a:off x="3301289" y="2407840"/>
            <a:ext cx="457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HTTP/1.1 200 OK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Date: Thu, 24 Jul 2008 17:36:27 GMT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Server: Apache-Coyote/1.1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Content-Type: text/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html;charset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=UTF-8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Content-Length: 1846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A6001E"/>
                </a:solidFill>
                <a:effectLst/>
                <a:uLnTx/>
                <a:uFillTx/>
                <a:latin typeface="Consolas-Italic"/>
                <a:ea typeface="+mn-ea"/>
                <a:cs typeface="+mn-cs"/>
              </a:rPr>
              <a:t>blank line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&lt;?xml ... 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&lt;!DOCTYPE html ... 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&lt;html ... 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-Bold"/>
                <a:ea typeface="+mn-ea"/>
                <a:cs typeface="+mn-cs"/>
              </a:rPr>
              <a:t>&lt;/html&gt;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90E6F-8299-3A82-052F-E5B8ED1301F9}"/>
              </a:ext>
            </a:extLst>
          </p:cNvPr>
          <p:cNvSpPr txBox="1"/>
          <p:nvPr/>
        </p:nvSpPr>
        <p:spPr>
          <a:xfrm>
            <a:off x="1089986" y="3119765"/>
            <a:ext cx="1271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Header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0C7AE78-ED38-C5A5-F5FB-702C9A82008A}"/>
              </a:ext>
            </a:extLst>
          </p:cNvPr>
          <p:cNvSpPr/>
          <p:nvPr/>
        </p:nvSpPr>
        <p:spPr>
          <a:xfrm>
            <a:off x="2513888" y="2527300"/>
            <a:ext cx="635001" cy="1727200"/>
          </a:xfrm>
          <a:prstGeom prst="leftBrac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6D6FF88-0022-F1C0-7A4E-CB3FD63EB7DA}"/>
              </a:ext>
            </a:extLst>
          </p:cNvPr>
          <p:cNvSpPr/>
          <p:nvPr/>
        </p:nvSpPr>
        <p:spPr>
          <a:xfrm>
            <a:off x="2506826" y="4733151"/>
            <a:ext cx="635001" cy="1225550"/>
          </a:xfrm>
          <a:prstGeom prst="leftBrac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989499-BD02-2BE4-541D-13DFFCC00101}"/>
              </a:ext>
            </a:extLst>
          </p:cNvPr>
          <p:cNvSpPr txBox="1"/>
          <p:nvPr/>
        </p:nvSpPr>
        <p:spPr>
          <a:xfrm>
            <a:off x="1324036" y="4868872"/>
            <a:ext cx="11030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Body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(html)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5E525-F190-0E67-E65F-57B52B967063}"/>
              </a:ext>
            </a:extLst>
          </p:cNvPr>
          <p:cNvSpPr txBox="1"/>
          <p:nvPr/>
        </p:nvSpPr>
        <p:spPr>
          <a:xfrm>
            <a:off x="2506826" y="1723821"/>
            <a:ext cx="1857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protocol version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4040E5-BF33-8203-E8E4-FBCF8965848D}"/>
              </a:ext>
            </a:extLst>
          </p:cNvPr>
          <p:cNvSpPr txBox="1"/>
          <p:nvPr/>
        </p:nvSpPr>
        <p:spPr>
          <a:xfrm>
            <a:off x="4407788" y="1723821"/>
            <a:ext cx="3082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status   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status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message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54BCC92-E4DF-EC58-5D46-F128A7CCF4A5}"/>
              </a:ext>
            </a:extLst>
          </p:cNvPr>
          <p:cNvSpPr/>
          <p:nvPr/>
        </p:nvSpPr>
        <p:spPr>
          <a:xfrm>
            <a:off x="3625850" y="2093153"/>
            <a:ext cx="222250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3FB9ECD-A3F8-E766-9A31-C591835915AC}"/>
              </a:ext>
            </a:extLst>
          </p:cNvPr>
          <p:cNvSpPr/>
          <p:nvPr/>
        </p:nvSpPr>
        <p:spPr>
          <a:xfrm>
            <a:off x="4625975" y="2093153"/>
            <a:ext cx="222250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422AA43-E1B1-11F7-DC2E-514D31EB086B}"/>
              </a:ext>
            </a:extLst>
          </p:cNvPr>
          <p:cNvSpPr/>
          <p:nvPr/>
        </p:nvSpPr>
        <p:spPr>
          <a:xfrm rot="2209520">
            <a:off x="5278034" y="2087554"/>
            <a:ext cx="190634" cy="39808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003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1FDFF-2FC7-2D96-42F1-F1B2E021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29DD1-C099-B9DA-B1E8-B4877D21C9DD}"/>
              </a:ext>
            </a:extLst>
          </p:cNvPr>
          <p:cNvSpPr txBox="1"/>
          <p:nvPr/>
        </p:nvSpPr>
        <p:spPr>
          <a:xfrm>
            <a:off x="3342975" y="0"/>
            <a:ext cx="259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 Protocol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081DB-9B85-089E-9150-02B131EDB8B7}"/>
              </a:ext>
            </a:extLst>
          </p:cNvPr>
          <p:cNvSpPr txBox="1"/>
          <p:nvPr/>
        </p:nvSpPr>
        <p:spPr>
          <a:xfrm>
            <a:off x="622300" y="1172131"/>
            <a:ext cx="840105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Common HTTP Response Status Codes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M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200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OK Success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307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Temporary Redirect Redirection - Browser retries using Location header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404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Not Found Famous one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503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Service Unavailable Something crashed on the server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500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Internal Server Error Something is messed up on the server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501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Not Implemented Coming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400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Bad Request Use if web app sends bogus request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401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Unauthorized Use if user isn't logged 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403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Forbidden Use if even logging in wouldn't help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550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MT"/>
                <a:ea typeface="+mn-ea"/>
                <a:cs typeface="+mn-cs"/>
              </a:rPr>
              <a:t> Permission denied Not allow to perform request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3797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587048" y="-31367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3 : Advanced Web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F9670-8D64-4063-B568-FD11644EE672}"/>
              </a:ext>
            </a:extLst>
          </p:cNvPr>
          <p:cNvSpPr txBox="1"/>
          <p:nvPr/>
        </p:nvSpPr>
        <p:spPr>
          <a:xfrm>
            <a:off x="87610" y="699445"/>
            <a:ext cx="90563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example setups more complicated web server on ESP32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to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Examples 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WebServer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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AdvancedWebServer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316A4-5E4F-4CA8-9480-0CEB3D44AE7F}"/>
              </a:ext>
            </a:extLst>
          </p:cNvPr>
          <p:cNvSpPr txBox="1"/>
          <p:nvPr/>
        </p:nvSpPr>
        <p:spPr>
          <a:xfrm>
            <a:off x="906087" y="2191435"/>
            <a:ext cx="7764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“………..";		//AP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password = “……….";	//Password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2664C-43B4-42A7-ADE9-B44093664C28}"/>
              </a:ext>
            </a:extLst>
          </p:cNvPr>
          <p:cNvSpPr txBox="1"/>
          <p:nvPr/>
        </p:nvSpPr>
        <p:spPr>
          <a:xfrm>
            <a:off x="906087" y="3746009"/>
            <a:ext cx="7764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“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Note7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";				//AP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password = “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qwerty1234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";	//Password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88D1597-EFA2-4035-A366-8125E559DAF0}"/>
              </a:ext>
            </a:extLst>
          </p:cNvPr>
          <p:cNvSpPr/>
          <p:nvPr/>
        </p:nvSpPr>
        <p:spPr>
          <a:xfrm>
            <a:off x="3566159" y="3084022"/>
            <a:ext cx="465513" cy="540327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3033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795549" y="35085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3 : Advanced Web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DD251-3C8D-480F-A2A6-0158487BF4CB}"/>
              </a:ext>
            </a:extLst>
          </p:cNvPr>
          <p:cNvSpPr txBox="1"/>
          <p:nvPr/>
        </p:nvSpPr>
        <p:spPr>
          <a:xfrm>
            <a:off x="850900" y="1007039"/>
            <a:ext cx="7442199" cy="120032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 to Tenda_A32520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address: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192.168.0.101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MDNS responder started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 server started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A30A2-B53E-4BDF-8C38-9394A2A5B008}"/>
              </a:ext>
            </a:extLst>
          </p:cNvPr>
          <p:cNvSpPr txBox="1"/>
          <p:nvPr/>
        </p:nvSpPr>
        <p:spPr>
          <a:xfrm>
            <a:off x="4979185" y="2396951"/>
            <a:ext cx="2641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Address of ESP32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DE9605-722E-4375-9364-78536069898A}"/>
              </a:ext>
            </a:extLst>
          </p:cNvPr>
          <p:cNvCxnSpPr>
            <a:cxnSpLocks/>
          </p:cNvCxnSpPr>
          <p:nvPr/>
        </p:nvCxnSpPr>
        <p:spPr>
          <a:xfrm>
            <a:off x="3475565" y="1483468"/>
            <a:ext cx="1520384" cy="111010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57CE-4BE0-49C5-A4BF-A16ABF41A87D}"/>
              </a:ext>
            </a:extLst>
          </p:cNvPr>
          <p:cNvSpPr txBox="1"/>
          <p:nvPr/>
        </p:nvSpPr>
        <p:spPr>
          <a:xfrm>
            <a:off x="6502571" y="3999385"/>
            <a:ext cx="22341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 your browser and type above IP address in address bar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9D143-6C35-4560-A13D-8BC918771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2923507"/>
            <a:ext cx="5402257" cy="38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199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832272" y="0"/>
            <a:ext cx="5969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3 : Advanced Web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D7D4E-72C1-41D5-802B-0E37BC266050}"/>
              </a:ext>
            </a:extLst>
          </p:cNvPr>
          <p:cNvSpPr txBox="1"/>
          <p:nvPr/>
        </p:nvSpPr>
        <p:spPr>
          <a:xfrm>
            <a:off x="822959" y="790672"/>
            <a:ext cx="79885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 to AP and get IP address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Setup web server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web content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message &amp; up timer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 numbers and graphic plot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connection handling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 web server &amp; wait for connection</a:t>
            </a:r>
          </a:p>
        </p:txBody>
      </p:sp>
    </p:spTree>
    <p:extLst>
      <p:ext uri="{BB962C8B-B14F-4D97-AF65-F5344CB8AC3E}">
        <p14:creationId xmlns:p14="http://schemas.microsoft.com/office/powerpoint/2010/main" val="3996999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286375" y="0"/>
            <a:ext cx="6760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4 : </a:t>
            </a:r>
            <a:r>
              <a:rPr lang="en-US" sz="3200" b="1" dirty="0">
                <a:solidFill>
                  <a:prstClr val="black"/>
                </a:solidFill>
                <a:latin typeface="Calibri" panose="020F0502020204030204"/>
              </a:rPr>
              <a:t>Web Server Controlled LED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F9670-8D64-4063-B568-FD11644EE672}"/>
              </a:ext>
            </a:extLst>
          </p:cNvPr>
          <p:cNvSpPr txBox="1"/>
          <p:nvPr/>
        </p:nvSpPr>
        <p:spPr>
          <a:xfrm>
            <a:off x="840241" y="726091"/>
            <a:ext cx="74635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example shows how to control LED from web browser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Examples 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WiFi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 </a:t>
            </a:r>
            <a:r>
              <a:rPr kumimoji="0" 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SimpleWiFiServer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316A4-5E4F-4CA8-9480-0CEB3D44AE7F}"/>
              </a:ext>
            </a:extLst>
          </p:cNvPr>
          <p:cNvSpPr txBox="1"/>
          <p:nvPr/>
        </p:nvSpPr>
        <p:spPr>
          <a:xfrm>
            <a:off x="906087" y="2191435"/>
            <a:ext cx="7764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“………..";		//AP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password = “……….";	//Password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2664C-43B4-42A7-ADE9-B44093664C28}"/>
              </a:ext>
            </a:extLst>
          </p:cNvPr>
          <p:cNvSpPr txBox="1"/>
          <p:nvPr/>
        </p:nvSpPr>
        <p:spPr>
          <a:xfrm>
            <a:off x="906087" y="3746009"/>
            <a:ext cx="7764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“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Note7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";				//AP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 char* password = “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qwerty1234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";	//Password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88D1597-EFA2-4035-A366-8125E559DAF0}"/>
              </a:ext>
            </a:extLst>
          </p:cNvPr>
          <p:cNvSpPr/>
          <p:nvPr/>
        </p:nvSpPr>
        <p:spPr>
          <a:xfrm>
            <a:off x="3566159" y="3084022"/>
            <a:ext cx="465513" cy="540327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028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649261" y="16659"/>
            <a:ext cx="5554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4 : Simple Wi-Fi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F9670-8D64-4063-B568-FD11644EE672}"/>
              </a:ext>
            </a:extLst>
          </p:cNvPr>
          <p:cNvSpPr txBox="1"/>
          <p:nvPr/>
        </p:nvSpPr>
        <p:spPr>
          <a:xfrm>
            <a:off x="3266853" y="701889"/>
            <a:ext cx="25094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Hardware setup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C86ED174-C785-FF6C-B71C-874E2742A111}"/>
              </a:ext>
            </a:extLst>
          </p:cNvPr>
          <p:cNvSpPr txBox="1"/>
          <p:nvPr/>
        </p:nvSpPr>
        <p:spPr>
          <a:xfrm>
            <a:off x="3217731" y="1452524"/>
            <a:ext cx="834418" cy="3694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ESP32</a:t>
            </a:r>
            <a:endParaRPr kumimoji="0" lang="en-US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860CB8-1395-F68F-A74F-FC9AE2F1F1DE}"/>
              </a:ext>
            </a:extLst>
          </p:cNvPr>
          <p:cNvCxnSpPr>
            <a:cxnSpLocks/>
          </p:cNvCxnSpPr>
          <p:nvPr/>
        </p:nvCxnSpPr>
        <p:spPr>
          <a:xfrm>
            <a:off x="4275294" y="2343961"/>
            <a:ext cx="585384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3A0EF66-E9E6-85D8-144A-07CF0FA709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60753" y="2262442"/>
            <a:ext cx="1297739" cy="157943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C3A3AB98-4816-7E7B-2EFE-0397A5E63E32}"/>
              </a:ext>
            </a:extLst>
          </p:cNvPr>
          <p:cNvSpPr/>
          <p:nvPr/>
        </p:nvSpPr>
        <p:spPr>
          <a:xfrm>
            <a:off x="2716250" y="1752949"/>
            <a:ext cx="1559729" cy="27640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7">
            <a:extLst>
              <a:ext uri="{FF2B5EF4-FFF2-40B4-BE49-F238E27FC236}">
                <a16:creationId xmlns:a16="http://schemas.microsoft.com/office/drawing/2014/main" id="{4B9CC4E6-BAB9-F45C-8ABC-F52CF79256B2}"/>
              </a:ext>
            </a:extLst>
          </p:cNvPr>
          <p:cNvSpPr txBox="1"/>
          <p:nvPr/>
        </p:nvSpPr>
        <p:spPr>
          <a:xfrm>
            <a:off x="3956898" y="2193750"/>
            <a:ext cx="386758" cy="346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D5</a:t>
            </a:r>
            <a:endParaRPr kumimoji="0" lang="en-US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C3696F0-6942-0F57-9551-41DFC247CB23}"/>
              </a:ext>
            </a:extLst>
          </p:cNvPr>
          <p:cNvGrpSpPr/>
          <p:nvPr/>
        </p:nvGrpSpPr>
        <p:grpSpPr>
          <a:xfrm>
            <a:off x="4879149" y="1956746"/>
            <a:ext cx="1551007" cy="1133385"/>
            <a:chOff x="4879149" y="1956746"/>
            <a:chExt cx="1551007" cy="1133385"/>
          </a:xfrm>
        </p:grpSpPr>
        <p:pic>
          <p:nvPicPr>
            <p:cNvPr id="21" name="Picture 2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B9E851C8-C7B7-7B86-7AF0-8DE0EDA7B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5611609" y="2035985"/>
              <a:ext cx="748780" cy="424917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4653BFB-360A-9BFF-658E-6140B3DA80AD}"/>
                </a:ext>
              </a:extLst>
            </p:cNvPr>
            <p:cNvCxnSpPr>
              <a:cxnSpLocks/>
            </p:cNvCxnSpPr>
            <p:nvPr/>
          </p:nvCxnSpPr>
          <p:spPr>
            <a:xfrm>
              <a:off x="6342284" y="2337711"/>
              <a:ext cx="949" cy="704807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37">
              <a:extLst>
                <a:ext uri="{FF2B5EF4-FFF2-40B4-BE49-F238E27FC236}">
                  <a16:creationId xmlns:a16="http://schemas.microsoft.com/office/drawing/2014/main" id="{BAAA17E8-AAC5-6197-8589-97C8D50384E8}"/>
                </a:ext>
              </a:extLst>
            </p:cNvPr>
            <p:cNvSpPr txBox="1"/>
            <p:nvPr/>
          </p:nvSpPr>
          <p:spPr>
            <a:xfrm>
              <a:off x="5875465" y="2775383"/>
              <a:ext cx="554691" cy="2780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ordia New" panose="020B0304020202020204" pitchFamily="34" charset="-34"/>
                </a:rPr>
                <a:t>GND</a:t>
              </a:r>
              <a:endPara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0F8D2A7-EE68-551B-8707-F0AF6E364066}"/>
                </a:ext>
              </a:extLst>
            </p:cNvPr>
            <p:cNvGrpSpPr/>
            <p:nvPr/>
          </p:nvGrpSpPr>
          <p:grpSpPr>
            <a:xfrm>
              <a:off x="6258612" y="3042518"/>
              <a:ext cx="167344" cy="47613"/>
              <a:chOff x="6277728" y="3016831"/>
              <a:chExt cx="167344" cy="47613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E493B72-FEDA-DACF-DD51-05715D9B2523}"/>
                  </a:ext>
                </a:extLst>
              </p:cNvPr>
              <p:cNvCxnSpPr/>
              <p:nvPr/>
            </p:nvCxnSpPr>
            <p:spPr>
              <a:xfrm>
                <a:off x="6277728" y="3016831"/>
                <a:ext cx="16734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481350F-657A-12AF-B414-8AAC5DA025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5935" y="3042518"/>
                <a:ext cx="11080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6D8A18B-F7A6-EABB-7097-1794AEBFE9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1743" y="3064444"/>
                <a:ext cx="6445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23167D8D-8CF8-AD10-8CA4-247DA437AC7E}"/>
                </a:ext>
              </a:extLst>
            </p:cNvPr>
            <p:cNvSpPr/>
            <p:nvPr/>
          </p:nvSpPr>
          <p:spPr>
            <a:xfrm rot="5400000">
              <a:off x="5856929" y="2231012"/>
              <a:ext cx="220223" cy="217097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TextBox 50">
              <a:extLst>
                <a:ext uri="{FF2B5EF4-FFF2-40B4-BE49-F238E27FC236}">
                  <a16:creationId xmlns:a16="http://schemas.microsoft.com/office/drawing/2014/main" id="{E95EACE3-7CFC-7B54-45A3-DC1322ED7C06}"/>
                </a:ext>
              </a:extLst>
            </p:cNvPr>
            <p:cNvSpPr txBox="1"/>
            <p:nvPr/>
          </p:nvSpPr>
          <p:spPr>
            <a:xfrm>
              <a:off x="4879149" y="1956746"/>
              <a:ext cx="956161" cy="4422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ordia New" panose="020B0304020202020204" pitchFamily="34" charset="-34"/>
                </a:rPr>
                <a:t>1K Ohm</a:t>
              </a:r>
              <a:endParaRPr kumimoji="0" lang="en-US" sz="11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301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795549" y="35085"/>
            <a:ext cx="5554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4 : Simple Wi-Fi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DD251-3C8D-480F-A2A6-0158487BF4CB}"/>
              </a:ext>
            </a:extLst>
          </p:cNvPr>
          <p:cNvSpPr txBox="1"/>
          <p:nvPr/>
        </p:nvSpPr>
        <p:spPr>
          <a:xfrm>
            <a:off x="850900" y="1007039"/>
            <a:ext cx="7442199" cy="120032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 to Tenda_A32520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address: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192.168.0.101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MDNS responder started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 server started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A30A2-B53E-4BDF-8C38-9394A2A5B008}"/>
              </a:ext>
            </a:extLst>
          </p:cNvPr>
          <p:cNvSpPr txBox="1"/>
          <p:nvPr/>
        </p:nvSpPr>
        <p:spPr>
          <a:xfrm>
            <a:off x="4979185" y="2396951"/>
            <a:ext cx="2641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Address of ESP32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DE9605-722E-4375-9364-78536069898A}"/>
              </a:ext>
            </a:extLst>
          </p:cNvPr>
          <p:cNvCxnSpPr>
            <a:cxnSpLocks/>
          </p:cNvCxnSpPr>
          <p:nvPr/>
        </p:nvCxnSpPr>
        <p:spPr>
          <a:xfrm>
            <a:off x="3475565" y="1483468"/>
            <a:ext cx="1520384" cy="111010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57CE-4BE0-49C5-A4BF-A16ABF41A87D}"/>
              </a:ext>
            </a:extLst>
          </p:cNvPr>
          <p:cNvSpPr txBox="1"/>
          <p:nvPr/>
        </p:nvSpPr>
        <p:spPr>
          <a:xfrm>
            <a:off x="5864580" y="3911969"/>
            <a:ext cx="22341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 your browser and type above IP address in address bar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F407BB-9511-487C-9CCC-2D6087E2B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0" y="2906882"/>
            <a:ext cx="5013680" cy="353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049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587048" y="152512"/>
            <a:ext cx="5554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4 : Simple Wi-Fi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F9670-8D64-4063-B568-FD11644EE672}"/>
              </a:ext>
            </a:extLst>
          </p:cNvPr>
          <p:cNvSpPr txBox="1"/>
          <p:nvPr/>
        </p:nvSpPr>
        <p:spPr>
          <a:xfrm>
            <a:off x="3559812" y="737287"/>
            <a:ext cx="1848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Hardware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54D7C-C06A-4A85-A34B-37B5D7649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547394" y="1760804"/>
            <a:ext cx="1504258" cy="11894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FFE56C-E32D-43D6-B946-DCE67B21D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547394" y="3532907"/>
            <a:ext cx="1504259" cy="11894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BF029A-FD02-48C6-9BCD-F0A422B46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07" y="1661007"/>
            <a:ext cx="5011346" cy="3535986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F8AD0C-161C-4F55-810B-BD2F6F010C54}"/>
              </a:ext>
            </a:extLst>
          </p:cNvPr>
          <p:cNvCxnSpPr>
            <a:cxnSpLocks/>
          </p:cNvCxnSpPr>
          <p:nvPr/>
        </p:nvCxnSpPr>
        <p:spPr>
          <a:xfrm flipV="1">
            <a:off x="4056611" y="2355510"/>
            <a:ext cx="2402378" cy="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9A713F5-2FFF-4AA9-9469-212CB106F9AD}"/>
              </a:ext>
            </a:extLst>
          </p:cNvPr>
          <p:cNvCxnSpPr>
            <a:cxnSpLocks/>
          </p:cNvCxnSpPr>
          <p:nvPr/>
        </p:nvCxnSpPr>
        <p:spPr>
          <a:xfrm>
            <a:off x="4056611" y="2558138"/>
            <a:ext cx="2402378" cy="1569476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8152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832272" y="0"/>
            <a:ext cx="5554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4 : Simple Wi-Fi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D7D4E-72C1-41D5-802B-0E37BC266050}"/>
              </a:ext>
            </a:extLst>
          </p:cNvPr>
          <p:cNvSpPr txBox="1"/>
          <p:nvPr/>
        </p:nvSpPr>
        <p:spPr>
          <a:xfrm>
            <a:off x="822959" y="790672"/>
            <a:ext cx="79885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 to AP and get IP address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Setup web server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web content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connection handling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 web server &amp; wait for connection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request is “GET /H” then Pin5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“1”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request is “GET /L” then Pin5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“0”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97906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725483" y="11603"/>
            <a:ext cx="5693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5 : Switch Status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F9670-8D64-4063-B568-FD11644EE672}"/>
              </a:ext>
            </a:extLst>
          </p:cNvPr>
          <p:cNvSpPr txBox="1"/>
          <p:nvPr/>
        </p:nvSpPr>
        <p:spPr>
          <a:xfrm>
            <a:off x="3559812" y="737287"/>
            <a:ext cx="18486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Hardware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351" y="1167838"/>
            <a:ext cx="8774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example shows how to use web server to display switch status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Open example file: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InputSW-WebServer.ino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70F45-3DD6-92BC-463E-39A0BB1ACAA2}"/>
              </a:ext>
            </a:extLst>
          </p:cNvPr>
          <p:cNvSpPr/>
          <p:nvPr/>
        </p:nvSpPr>
        <p:spPr>
          <a:xfrm>
            <a:off x="3914737" y="2622912"/>
            <a:ext cx="1193816" cy="23930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FCC6995-E6C8-AE8A-870A-D95B97C1F7C1}"/>
              </a:ext>
            </a:extLst>
          </p:cNvPr>
          <p:cNvSpPr txBox="1"/>
          <p:nvPr/>
        </p:nvSpPr>
        <p:spPr>
          <a:xfrm>
            <a:off x="4196064" y="2297923"/>
            <a:ext cx="971928" cy="4161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ESP32</a:t>
            </a:r>
            <a:endParaRPr kumimoji="0" lang="en-US" sz="16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pic>
        <p:nvPicPr>
          <p:cNvPr id="22" name="Picture 21" descr="A black and white symbol&#10;&#10;Description automatically generated">
            <a:extLst>
              <a:ext uri="{FF2B5EF4-FFF2-40B4-BE49-F238E27FC236}">
                <a16:creationId xmlns:a16="http://schemas.microsoft.com/office/drawing/2014/main" id="{186345F0-EDFD-021E-E457-A9F44E3A6E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43436"/>
          <a:stretch/>
        </p:blipFill>
        <p:spPr>
          <a:xfrm rot="16200000" flipH="1">
            <a:off x="2987165" y="3094412"/>
            <a:ext cx="472047" cy="22501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5215AF-F1A8-2801-6655-6F030E56395F}"/>
              </a:ext>
            </a:extLst>
          </p:cNvPr>
          <p:cNvCxnSpPr>
            <a:cxnSpLocks/>
          </p:cNvCxnSpPr>
          <p:nvPr/>
        </p:nvCxnSpPr>
        <p:spPr>
          <a:xfrm flipH="1">
            <a:off x="3277066" y="3440765"/>
            <a:ext cx="637671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BDCADBA-0A8E-E323-D118-FF4D5D277AE1}"/>
              </a:ext>
            </a:extLst>
          </p:cNvPr>
          <p:cNvSpPr/>
          <p:nvPr/>
        </p:nvSpPr>
        <p:spPr>
          <a:xfrm>
            <a:off x="3251534" y="3410324"/>
            <a:ext cx="65774" cy="6295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EF3F34-C68C-FB2F-FC5B-8897FC89AF44}"/>
              </a:ext>
            </a:extLst>
          </p:cNvPr>
          <p:cNvCxnSpPr>
            <a:cxnSpLocks/>
          </p:cNvCxnSpPr>
          <p:nvPr/>
        </p:nvCxnSpPr>
        <p:spPr>
          <a:xfrm flipH="1">
            <a:off x="3268824" y="2773530"/>
            <a:ext cx="645912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DD78855-CE14-FFD3-299E-7415CC1B117D}"/>
              </a:ext>
            </a:extLst>
          </p:cNvPr>
          <p:cNvCxnSpPr>
            <a:cxnSpLocks/>
          </p:cNvCxnSpPr>
          <p:nvPr/>
        </p:nvCxnSpPr>
        <p:spPr>
          <a:xfrm flipV="1">
            <a:off x="3279375" y="2765416"/>
            <a:ext cx="1152" cy="20879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59">
            <a:extLst>
              <a:ext uri="{FF2B5EF4-FFF2-40B4-BE49-F238E27FC236}">
                <a16:creationId xmlns:a16="http://schemas.microsoft.com/office/drawing/2014/main" id="{E0344452-2294-5DD7-5766-BCBAA4054649}"/>
              </a:ext>
            </a:extLst>
          </p:cNvPr>
          <p:cNvSpPr txBox="1"/>
          <p:nvPr/>
        </p:nvSpPr>
        <p:spPr>
          <a:xfrm>
            <a:off x="3890349" y="2658348"/>
            <a:ext cx="232472" cy="361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V</a:t>
            </a:r>
            <a:endParaRPr kumimoji="0" lang="en-US" sz="11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32" name="TextBox 60">
            <a:extLst>
              <a:ext uri="{FF2B5EF4-FFF2-40B4-BE49-F238E27FC236}">
                <a16:creationId xmlns:a16="http://schemas.microsoft.com/office/drawing/2014/main" id="{70408830-CC6F-687B-7A63-28EDDC71BA0A}"/>
              </a:ext>
            </a:extLst>
          </p:cNvPr>
          <p:cNvSpPr txBox="1"/>
          <p:nvPr/>
        </p:nvSpPr>
        <p:spPr>
          <a:xfrm>
            <a:off x="3865983" y="3275043"/>
            <a:ext cx="593997" cy="32006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D17</a:t>
            </a:r>
            <a:endParaRPr kumimoji="0" lang="en-US" sz="1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34" name="TextBox 61">
            <a:extLst>
              <a:ext uri="{FF2B5EF4-FFF2-40B4-BE49-F238E27FC236}">
                <a16:creationId xmlns:a16="http://schemas.microsoft.com/office/drawing/2014/main" id="{83816944-D94F-B277-A63D-67B1B3C4FDB8}"/>
              </a:ext>
            </a:extLst>
          </p:cNvPr>
          <p:cNvSpPr txBox="1"/>
          <p:nvPr/>
        </p:nvSpPr>
        <p:spPr>
          <a:xfrm>
            <a:off x="2127497" y="2967478"/>
            <a:ext cx="929842" cy="3216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Push-button Switch</a:t>
            </a:r>
            <a:endParaRPr kumimoji="0" lang="en-US" sz="1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pic>
        <p:nvPicPr>
          <p:cNvPr id="50" name="Picture 4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65F12F4-558C-5091-4366-F7FFE4988A0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9824" t="1" r="18873" b="-3"/>
          <a:stretch/>
        </p:blipFill>
        <p:spPr>
          <a:xfrm rot="16200000">
            <a:off x="3054748" y="3598175"/>
            <a:ext cx="496907" cy="186442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50B90F60-DAEB-7165-8E98-FAEB51CA6D45}"/>
              </a:ext>
            </a:extLst>
          </p:cNvPr>
          <p:cNvGrpSpPr/>
          <p:nvPr/>
        </p:nvGrpSpPr>
        <p:grpSpPr>
          <a:xfrm>
            <a:off x="3222178" y="3722163"/>
            <a:ext cx="638121" cy="302177"/>
            <a:chOff x="900620" y="1764149"/>
            <a:chExt cx="791337" cy="391484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258020D-06AE-A063-7580-5213ABE4C77F}"/>
                </a:ext>
              </a:extLst>
            </p:cNvPr>
            <p:cNvCxnSpPr/>
            <p:nvPr/>
          </p:nvCxnSpPr>
          <p:spPr>
            <a:xfrm>
              <a:off x="900620" y="2064192"/>
              <a:ext cx="1588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68">
              <a:extLst>
                <a:ext uri="{FF2B5EF4-FFF2-40B4-BE49-F238E27FC236}">
                  <a16:creationId xmlns:a16="http://schemas.microsoft.com/office/drawing/2014/main" id="{4106736A-33B8-7595-FBB3-6D2219382078}"/>
                </a:ext>
              </a:extLst>
            </p:cNvPr>
            <p:cNvSpPr txBox="1"/>
            <p:nvPr/>
          </p:nvSpPr>
          <p:spPr>
            <a:xfrm>
              <a:off x="1018591" y="1764149"/>
              <a:ext cx="673366" cy="3467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ordia New" panose="020B0304020202020204" pitchFamily="34" charset="-34"/>
                </a:rPr>
                <a:t>GND</a:t>
              </a:r>
              <a:endPara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8B4EDA2-903D-9663-E31F-C18BDC024154}"/>
                </a:ext>
              </a:extLst>
            </p:cNvPr>
            <p:cNvCxnSpPr>
              <a:cxnSpLocks/>
            </p:cNvCxnSpPr>
            <p:nvPr/>
          </p:nvCxnSpPr>
          <p:spPr>
            <a:xfrm>
              <a:off x="927450" y="2104975"/>
              <a:ext cx="10517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4F982DB2-9C6B-5F6A-D5D8-214B34E40CFB}"/>
                </a:ext>
              </a:extLst>
            </p:cNvPr>
            <p:cNvCxnSpPr>
              <a:cxnSpLocks/>
            </p:cNvCxnSpPr>
            <p:nvPr/>
          </p:nvCxnSpPr>
          <p:spPr>
            <a:xfrm>
              <a:off x="948914" y="2155633"/>
              <a:ext cx="6117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E3D94FC-0B80-7A6D-BF13-B51C576BECC5}"/>
              </a:ext>
            </a:extLst>
          </p:cNvPr>
          <p:cNvCxnSpPr>
            <a:cxnSpLocks/>
          </p:cNvCxnSpPr>
          <p:nvPr/>
        </p:nvCxnSpPr>
        <p:spPr>
          <a:xfrm>
            <a:off x="5108983" y="3160745"/>
            <a:ext cx="585384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Picture 7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67A1DC-4158-A1FC-D2F1-43F711DBCE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394442" y="3079226"/>
            <a:ext cx="1297739" cy="157943"/>
          </a:xfrm>
          <a:prstGeom prst="rect">
            <a:avLst/>
          </a:prstGeom>
        </p:spPr>
      </p:pic>
      <p:sp>
        <p:nvSpPr>
          <p:cNvPr id="76" name="TextBox 47">
            <a:extLst>
              <a:ext uri="{FF2B5EF4-FFF2-40B4-BE49-F238E27FC236}">
                <a16:creationId xmlns:a16="http://schemas.microsoft.com/office/drawing/2014/main" id="{298CB1FF-9535-FF1B-B1A8-662F00F4F1D4}"/>
              </a:ext>
            </a:extLst>
          </p:cNvPr>
          <p:cNvSpPr txBox="1"/>
          <p:nvPr/>
        </p:nvSpPr>
        <p:spPr>
          <a:xfrm>
            <a:off x="4672441" y="3010534"/>
            <a:ext cx="504904" cy="346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D13</a:t>
            </a:r>
            <a:endParaRPr kumimoji="0" lang="en-US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DBDB97E-20D4-562B-CA6A-FA673FD28F86}"/>
              </a:ext>
            </a:extLst>
          </p:cNvPr>
          <p:cNvGrpSpPr/>
          <p:nvPr/>
        </p:nvGrpSpPr>
        <p:grpSpPr>
          <a:xfrm>
            <a:off x="5712838" y="2773530"/>
            <a:ext cx="1551007" cy="1133385"/>
            <a:chOff x="4879149" y="1956746"/>
            <a:chExt cx="1551007" cy="1133385"/>
          </a:xfrm>
        </p:grpSpPr>
        <p:pic>
          <p:nvPicPr>
            <p:cNvPr id="78" name="Picture 77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96BBE44-9877-7C0B-699D-F2A433911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5611609" y="2035985"/>
              <a:ext cx="748780" cy="424917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996B772-2879-A979-5D06-3CE4D1EA42A4}"/>
                </a:ext>
              </a:extLst>
            </p:cNvPr>
            <p:cNvCxnSpPr>
              <a:cxnSpLocks/>
            </p:cNvCxnSpPr>
            <p:nvPr/>
          </p:nvCxnSpPr>
          <p:spPr>
            <a:xfrm>
              <a:off x="6342284" y="2337711"/>
              <a:ext cx="949" cy="704807"/>
            </a:xfrm>
            <a:prstGeom prst="line">
              <a:avLst/>
            </a:prstGeom>
            <a:ln w="127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TextBox 37">
              <a:extLst>
                <a:ext uri="{FF2B5EF4-FFF2-40B4-BE49-F238E27FC236}">
                  <a16:creationId xmlns:a16="http://schemas.microsoft.com/office/drawing/2014/main" id="{8536A725-C8ED-53D6-A267-B12138EB1317}"/>
                </a:ext>
              </a:extLst>
            </p:cNvPr>
            <p:cNvSpPr txBox="1"/>
            <p:nvPr/>
          </p:nvSpPr>
          <p:spPr>
            <a:xfrm>
              <a:off x="5875465" y="2775383"/>
              <a:ext cx="554691" cy="2780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ordia New" panose="020B0304020202020204" pitchFamily="34" charset="-34"/>
                </a:rPr>
                <a:t>GND</a:t>
              </a:r>
              <a:endPara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endParaRP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484EAC7-BB76-7D23-B329-5FDD95E0BE9D}"/>
                </a:ext>
              </a:extLst>
            </p:cNvPr>
            <p:cNvGrpSpPr/>
            <p:nvPr/>
          </p:nvGrpSpPr>
          <p:grpSpPr>
            <a:xfrm>
              <a:off x="6258612" y="3042518"/>
              <a:ext cx="167344" cy="47613"/>
              <a:chOff x="6277728" y="3016831"/>
              <a:chExt cx="167344" cy="47613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95474DEC-7145-9EE3-B85F-1DF65AE795B9}"/>
                  </a:ext>
                </a:extLst>
              </p:cNvPr>
              <p:cNvCxnSpPr/>
              <p:nvPr/>
            </p:nvCxnSpPr>
            <p:spPr>
              <a:xfrm>
                <a:off x="6277728" y="3016831"/>
                <a:ext cx="16734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120CE3C2-35C9-EA99-ED19-59D7D9D67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5935" y="3042518"/>
                <a:ext cx="11080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8611A57E-7268-5E4B-5CB4-BBE16604B3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31743" y="3064444"/>
                <a:ext cx="6445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5593FCA5-D27F-9C2C-AE07-B14429F8E891}"/>
                </a:ext>
              </a:extLst>
            </p:cNvPr>
            <p:cNvSpPr/>
            <p:nvPr/>
          </p:nvSpPr>
          <p:spPr>
            <a:xfrm rot="5400000">
              <a:off x="5856929" y="2231012"/>
              <a:ext cx="220223" cy="217097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TextBox 50">
              <a:extLst>
                <a:ext uri="{FF2B5EF4-FFF2-40B4-BE49-F238E27FC236}">
                  <a16:creationId xmlns:a16="http://schemas.microsoft.com/office/drawing/2014/main" id="{C633DAE7-C6B7-808E-A2F6-6CDCCCC74BD0}"/>
                </a:ext>
              </a:extLst>
            </p:cNvPr>
            <p:cNvSpPr txBox="1"/>
            <p:nvPr/>
          </p:nvSpPr>
          <p:spPr>
            <a:xfrm>
              <a:off x="4879149" y="1956746"/>
              <a:ext cx="956161" cy="4422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ordia New" panose="020B0304020202020204" pitchFamily="34" charset="-34"/>
                </a:rPr>
                <a:t>1K Ohm</a:t>
              </a:r>
              <a:endParaRPr kumimoji="0" lang="en-US" sz="11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endParaRPr>
            </a:p>
          </p:txBody>
        </p:sp>
      </p:grpSp>
      <p:sp>
        <p:nvSpPr>
          <p:cNvPr id="87" name="TextBox 50">
            <a:extLst>
              <a:ext uri="{FF2B5EF4-FFF2-40B4-BE49-F238E27FC236}">
                <a16:creationId xmlns:a16="http://schemas.microsoft.com/office/drawing/2014/main" id="{7139DC5E-6E65-3132-6C20-3C5B3C1611EE}"/>
              </a:ext>
            </a:extLst>
          </p:cNvPr>
          <p:cNvSpPr txBox="1"/>
          <p:nvPr/>
        </p:nvSpPr>
        <p:spPr>
          <a:xfrm>
            <a:off x="2516615" y="3543003"/>
            <a:ext cx="734919" cy="4422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ordia New" panose="020B0304020202020204" pitchFamily="34" charset="-34"/>
              </a:rPr>
              <a:t>10K Ohm</a:t>
            </a:r>
            <a:endParaRPr kumimoji="0" lang="en-US" sz="11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640055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EDD251-3C8D-480F-A2A6-0158487BF4CB}"/>
              </a:ext>
            </a:extLst>
          </p:cNvPr>
          <p:cNvSpPr txBox="1"/>
          <p:nvPr/>
        </p:nvSpPr>
        <p:spPr>
          <a:xfrm>
            <a:off x="850900" y="1007039"/>
            <a:ext cx="7442199" cy="120032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 to Tenda_A32520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address: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192.168.0.101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MDNS responder started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 server started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A30A2-B53E-4BDF-8C38-9394A2A5B008}"/>
              </a:ext>
            </a:extLst>
          </p:cNvPr>
          <p:cNvSpPr txBox="1"/>
          <p:nvPr/>
        </p:nvSpPr>
        <p:spPr>
          <a:xfrm>
            <a:off x="4979185" y="2396951"/>
            <a:ext cx="2641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Address of ESP32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DE9605-722E-4375-9364-78536069898A}"/>
              </a:ext>
            </a:extLst>
          </p:cNvPr>
          <p:cNvCxnSpPr>
            <a:cxnSpLocks/>
          </p:cNvCxnSpPr>
          <p:nvPr/>
        </p:nvCxnSpPr>
        <p:spPr>
          <a:xfrm>
            <a:off x="3475565" y="1483468"/>
            <a:ext cx="1520384" cy="111010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57CE-4BE0-49C5-A4BF-A16ABF41A87D}"/>
              </a:ext>
            </a:extLst>
          </p:cNvPr>
          <p:cNvSpPr txBox="1"/>
          <p:nvPr/>
        </p:nvSpPr>
        <p:spPr>
          <a:xfrm>
            <a:off x="5864580" y="3911969"/>
            <a:ext cx="22341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 your browser and type above IP address in address bar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F56CD8-B0A0-4C58-8413-A6A8A76F6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948288"/>
            <a:ext cx="5121630" cy="3611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07D1B0-18F5-4116-AA9F-4D37F1EE550D}"/>
              </a:ext>
            </a:extLst>
          </p:cNvPr>
          <p:cNvSpPr txBox="1"/>
          <p:nvPr/>
        </p:nvSpPr>
        <p:spPr>
          <a:xfrm>
            <a:off x="1587048" y="5428"/>
            <a:ext cx="5693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5 : Switch Status Server</a:t>
            </a:r>
          </a:p>
        </p:txBody>
      </p:sp>
    </p:spTree>
    <p:extLst>
      <p:ext uri="{BB962C8B-B14F-4D97-AF65-F5344CB8AC3E}">
        <p14:creationId xmlns:p14="http://schemas.microsoft.com/office/powerpoint/2010/main" val="7366400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CD7D4E-72C1-41D5-802B-0E37BC266050}"/>
              </a:ext>
            </a:extLst>
          </p:cNvPr>
          <p:cNvSpPr txBox="1"/>
          <p:nvPr/>
        </p:nvSpPr>
        <p:spPr>
          <a:xfrm>
            <a:off x="299259" y="790672"/>
            <a:ext cx="85122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Concept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 to AP and get IP address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Setup web server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web content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connection handling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 web server &amp; wait for connection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Keep scanning the input pin and update web 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B8ACD-E132-4AEB-8EC8-CA754B05CF89}"/>
              </a:ext>
            </a:extLst>
          </p:cNvPr>
          <p:cNvSpPr txBox="1"/>
          <p:nvPr/>
        </p:nvSpPr>
        <p:spPr>
          <a:xfrm>
            <a:off x="1802948" y="0"/>
            <a:ext cx="5693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5 : Switch Status Server</a:t>
            </a:r>
          </a:p>
        </p:txBody>
      </p:sp>
    </p:spTree>
    <p:extLst>
      <p:ext uri="{BB962C8B-B14F-4D97-AF65-F5344CB8AC3E}">
        <p14:creationId xmlns:p14="http://schemas.microsoft.com/office/powerpoint/2010/main" val="32636569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1" y="1650207"/>
            <a:ext cx="5971831" cy="3150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420AA3-5C2D-B34A-7752-728E6C66D2A2}"/>
              </a:ext>
            </a:extLst>
          </p:cNvPr>
          <p:cNvSpPr txBox="1"/>
          <p:nvPr/>
        </p:nvSpPr>
        <p:spPr>
          <a:xfrm>
            <a:off x="2838448" y="32727"/>
            <a:ext cx="3467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Architecture of IoT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52165D-902B-8E10-4356-A5C37F129600}"/>
              </a:ext>
            </a:extLst>
          </p:cNvPr>
          <p:cNvSpPr/>
          <p:nvPr/>
        </p:nvSpPr>
        <p:spPr>
          <a:xfrm>
            <a:off x="1337466" y="1650207"/>
            <a:ext cx="927847" cy="335597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D71E74-E876-4BD1-9318-4C4BFB3AB1B3}"/>
              </a:ext>
            </a:extLst>
          </p:cNvPr>
          <p:cNvSpPr/>
          <p:nvPr/>
        </p:nvSpPr>
        <p:spPr>
          <a:xfrm>
            <a:off x="2343990" y="1650207"/>
            <a:ext cx="1060186" cy="335597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9B1F51-08EE-FB4A-CE3D-951227C50389}"/>
              </a:ext>
            </a:extLst>
          </p:cNvPr>
          <p:cNvSpPr/>
          <p:nvPr/>
        </p:nvSpPr>
        <p:spPr>
          <a:xfrm>
            <a:off x="3450492" y="1086338"/>
            <a:ext cx="4407877" cy="4384431"/>
          </a:xfrm>
          <a:prstGeom prst="rect">
            <a:avLst/>
          </a:prstGeom>
          <a:noFill/>
          <a:ln w="2222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9521E-BF0D-5BF6-0112-26B4BE2B8223}"/>
              </a:ext>
            </a:extLst>
          </p:cNvPr>
          <p:cNvSpPr txBox="1"/>
          <p:nvPr/>
        </p:nvSpPr>
        <p:spPr>
          <a:xfrm>
            <a:off x="4643795" y="4909548"/>
            <a:ext cx="2297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IoT platform</a:t>
            </a:r>
          </a:p>
        </p:txBody>
      </p:sp>
    </p:spTree>
    <p:extLst>
      <p:ext uri="{BB962C8B-B14F-4D97-AF65-F5344CB8AC3E}">
        <p14:creationId xmlns:p14="http://schemas.microsoft.com/office/powerpoint/2010/main" val="37624350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9D62E4-1460-476E-A71F-1A5D90993244}"/>
              </a:ext>
            </a:extLst>
          </p:cNvPr>
          <p:cNvSpPr txBox="1"/>
          <p:nvPr/>
        </p:nvSpPr>
        <p:spPr>
          <a:xfrm>
            <a:off x="1865426" y="0"/>
            <a:ext cx="6023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Basic IoT application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C86AC-8A05-4649-8760-0A2A5BF4AEF8}"/>
              </a:ext>
            </a:extLst>
          </p:cNvPr>
          <p:cNvSpPr txBox="1"/>
          <p:nvPr/>
        </p:nvSpPr>
        <p:spPr>
          <a:xfrm>
            <a:off x="257054" y="892161"/>
            <a:ext cx="87814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IoT applications require a lot of customized HW and SW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Common parts in IoT applications are user interface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are available platform for creating simple IoT apps</a:t>
            </a:r>
          </a:p>
          <a:p>
            <a:pPr marL="1371600" marR="0" lvl="2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Blynk</a:t>
            </a:r>
          </a:p>
          <a:p>
            <a:pPr marL="1371600" marR="0" lvl="2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NetPie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(by NECTEC)</a:t>
            </a:r>
          </a:p>
          <a:p>
            <a:pPr marL="1371600" marR="0" lvl="2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ThingWorx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9112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2F6CB2-F7AB-4565-AD59-05806F05EB1D}"/>
              </a:ext>
            </a:extLst>
          </p:cNvPr>
          <p:cNvSpPr txBox="1"/>
          <p:nvPr/>
        </p:nvSpPr>
        <p:spPr>
          <a:xfrm>
            <a:off x="768338" y="0"/>
            <a:ext cx="7764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IoT</a:t>
            </a:r>
            <a:r>
              <a:rPr kumimoji="0" lang="th-TH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Applications Development using</a:t>
            </a:r>
            <a:r>
              <a:rPr kumimoji="0" lang="th-TH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Blynk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21556-5CF8-4005-9FD9-EA3ADDAB2551}"/>
              </a:ext>
            </a:extLst>
          </p:cNvPr>
          <p:cNvSpPr txBox="1"/>
          <p:nvPr/>
        </p:nvSpPr>
        <p:spPr>
          <a:xfrm>
            <a:off x="411091" y="791197"/>
            <a:ext cx="86297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Blynk is an IoT Application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development platform consisting of: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User interface for desktop and mobile devices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(Android/iPhone)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Connection library for various IoT hardware platforms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DD883A-2D55-BB28-0FF4-2E33436B5E18}"/>
              </a:ext>
            </a:extLst>
          </p:cNvPr>
          <p:cNvGrpSpPr/>
          <p:nvPr/>
        </p:nvGrpSpPr>
        <p:grpSpPr>
          <a:xfrm>
            <a:off x="1636294" y="2223195"/>
            <a:ext cx="6028395" cy="4502458"/>
            <a:chOff x="1636294" y="2223195"/>
            <a:chExt cx="6028395" cy="45024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8CB629-E598-42A3-9154-7E73EEC0B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6294" y="2223195"/>
              <a:ext cx="6028395" cy="450245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DA5475E-69A3-77EC-8C03-335DA8A19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94" t="75253" r="54608"/>
            <a:stretch/>
          </p:blipFill>
          <p:spPr>
            <a:xfrm>
              <a:off x="5211833" y="2551723"/>
              <a:ext cx="2337829" cy="11142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21044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154C1-E435-CE15-8995-6B577815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906670-9F3B-CD0D-2ED3-2A2B7405CFB2}"/>
              </a:ext>
            </a:extLst>
          </p:cNvPr>
          <p:cNvSpPr txBox="1"/>
          <p:nvPr/>
        </p:nvSpPr>
        <p:spPr>
          <a:xfrm>
            <a:off x="1673445" y="0"/>
            <a:ext cx="6034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Blynk</a:t>
            </a:r>
            <a:r>
              <a:rPr kumimoji="0" lang="th-TH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Applications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6C5D1-F5C6-3D91-394F-53DDAEEE4AE5}"/>
              </a:ext>
            </a:extLst>
          </p:cNvPr>
          <p:cNvSpPr txBox="1"/>
          <p:nvPr/>
        </p:nvSpPr>
        <p:spPr>
          <a:xfrm>
            <a:off x="349027" y="646331"/>
            <a:ext cx="862971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Signup for Blynk by going to: http://blynk.io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Type your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email address to proceed to the next step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D721C-62BB-C9EA-7187-FDA652A3A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258" y="1589581"/>
            <a:ext cx="3284743" cy="5262651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7A052B00-EBCF-6BD5-4CD4-2A2A8E64DE58}"/>
              </a:ext>
            </a:extLst>
          </p:cNvPr>
          <p:cNvSpPr/>
          <p:nvPr/>
        </p:nvSpPr>
        <p:spPr>
          <a:xfrm rot="10800000">
            <a:off x="6557598" y="3922099"/>
            <a:ext cx="1150512" cy="47910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2636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5A206-E777-81FB-B429-2D389B4A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BF151F-9FE7-5486-C803-618F8920D6E5}"/>
              </a:ext>
            </a:extLst>
          </p:cNvPr>
          <p:cNvSpPr txBox="1"/>
          <p:nvPr/>
        </p:nvSpPr>
        <p:spPr>
          <a:xfrm>
            <a:off x="311526" y="1134414"/>
            <a:ext cx="86297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Open your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email, then set a new password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Go back to main screen, log in using your new password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Once you log in, you will see Blynk Console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Steps to create a Blynk application are as follows: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971550" marR="0" lvl="1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Create new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template in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Blynk console</a:t>
            </a:r>
          </a:p>
          <a:p>
            <a:pPr marL="971550" marR="0" lvl="1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Create device for your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template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971550" marR="0" lvl="1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Create user interface in Blynk mobile app</a:t>
            </a:r>
          </a:p>
          <a:p>
            <a:pPr marL="971550" marR="0" lvl="1" indent="-5143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Build your circuit and write code for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  <a:sym typeface="Wingdings" pitchFamily="2" charset="2"/>
              </a:rPr>
              <a:t>ESP32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4EEC5-8A39-4725-AF73-EBB96F7CA6E2}"/>
              </a:ext>
            </a:extLst>
          </p:cNvPr>
          <p:cNvSpPr txBox="1"/>
          <p:nvPr/>
        </p:nvSpPr>
        <p:spPr>
          <a:xfrm>
            <a:off x="1514111" y="-8185"/>
            <a:ext cx="61157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Blynk</a:t>
            </a:r>
            <a:r>
              <a:rPr kumimoji="0" lang="th-TH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Applications Development</a:t>
            </a:r>
          </a:p>
        </p:txBody>
      </p:sp>
    </p:spTree>
    <p:extLst>
      <p:ext uri="{BB962C8B-B14F-4D97-AF65-F5344CB8AC3E}">
        <p14:creationId xmlns:p14="http://schemas.microsoft.com/office/powerpoint/2010/main" val="34728608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77908-8B88-6A16-645D-6560AF4DA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F73879-9C44-585A-D264-88819A5BD13E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FEC7B-22BF-6066-0812-312981E7C4B7}"/>
              </a:ext>
            </a:extLst>
          </p:cNvPr>
          <p:cNvSpPr txBox="1"/>
          <p:nvPr/>
        </p:nvSpPr>
        <p:spPr>
          <a:xfrm>
            <a:off x="224119" y="752142"/>
            <a:ext cx="88123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Click on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Developer Zone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on the left menu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to go to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template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Then click on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New template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0F376A-E221-8A2A-5F9B-733C1AEAB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45" y="2578324"/>
            <a:ext cx="5214337" cy="352753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6B03053-F3B6-4967-405B-2EBB754D23FC}"/>
              </a:ext>
            </a:extLst>
          </p:cNvPr>
          <p:cNvSpPr/>
          <p:nvPr/>
        </p:nvSpPr>
        <p:spPr>
          <a:xfrm>
            <a:off x="725845" y="3249767"/>
            <a:ext cx="2348248" cy="4636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DD6DCA-9783-FAF6-7CBE-C1A02A08AA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838" t="10419" r="-481" b="45336"/>
          <a:stretch/>
        </p:blipFill>
        <p:spPr>
          <a:xfrm>
            <a:off x="6208562" y="3138151"/>
            <a:ext cx="2773317" cy="115051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AEBCDC41-3840-3AEA-08C9-6BB4B988261D}"/>
              </a:ext>
            </a:extLst>
          </p:cNvPr>
          <p:cNvSpPr/>
          <p:nvPr/>
        </p:nvSpPr>
        <p:spPr>
          <a:xfrm>
            <a:off x="5288924" y="3530957"/>
            <a:ext cx="1090412" cy="36490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7978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4F890-0BEE-7F9B-C3FD-2A399D18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2B6B5-491D-D07D-4B93-031767D37924}"/>
              </a:ext>
            </a:extLst>
          </p:cNvPr>
          <p:cNvSpPr txBox="1"/>
          <p:nvPr/>
        </p:nvSpPr>
        <p:spPr>
          <a:xfrm>
            <a:off x="257144" y="838752"/>
            <a:ext cx="8886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Under Name, type “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LED Control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” then select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EPS32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and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WiFi</a:t>
            </a:r>
            <a:endParaRPr kumimoji="0" lang="th-TH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Click on</a:t>
            </a:r>
            <a:r>
              <a:rPr kumimoji="0" lang="th-TH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Done button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6F5F55-8679-4F60-59BA-AD8C15472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77" y="1862008"/>
            <a:ext cx="7281001" cy="4897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61BD6F-B595-4094-B8B0-B2A8D7CCC751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032FBE0-9606-4B47-B947-333746F0EAF8}"/>
              </a:ext>
            </a:extLst>
          </p:cNvPr>
          <p:cNvSpPr/>
          <p:nvPr/>
        </p:nvSpPr>
        <p:spPr>
          <a:xfrm>
            <a:off x="876757" y="2559485"/>
            <a:ext cx="1875408" cy="463641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BEEB5F8-FCDF-4784-AAAE-16B0EF39C8AD}"/>
              </a:ext>
            </a:extLst>
          </p:cNvPr>
          <p:cNvSpPr/>
          <p:nvPr/>
        </p:nvSpPr>
        <p:spPr>
          <a:xfrm>
            <a:off x="876757" y="3371234"/>
            <a:ext cx="1767831" cy="463641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4B33621-C0EF-4F9D-99C5-00FA99D2FF57}"/>
              </a:ext>
            </a:extLst>
          </p:cNvPr>
          <p:cNvSpPr/>
          <p:nvPr/>
        </p:nvSpPr>
        <p:spPr>
          <a:xfrm>
            <a:off x="4744873" y="3371234"/>
            <a:ext cx="902892" cy="463641"/>
          </a:xfrm>
          <a:prstGeom prst="ellipse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7D9822-C629-FD3A-CF48-CF9B1AB4D92D}"/>
              </a:ext>
            </a:extLst>
          </p:cNvPr>
          <p:cNvSpPr txBox="1"/>
          <p:nvPr/>
        </p:nvSpPr>
        <p:spPr>
          <a:xfrm>
            <a:off x="1285630" y="3418388"/>
            <a:ext cx="75309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ESP32</a:t>
            </a:r>
          </a:p>
        </p:txBody>
      </p:sp>
    </p:spTree>
    <p:extLst>
      <p:ext uri="{BB962C8B-B14F-4D97-AF65-F5344CB8AC3E}">
        <p14:creationId xmlns:p14="http://schemas.microsoft.com/office/powerpoint/2010/main" val="1964942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0323B-B6E9-6023-BD21-799F742E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7C08C4-27EE-48BD-EB28-9515C0DEE4FA}"/>
              </a:ext>
            </a:extLst>
          </p:cNvPr>
          <p:cNvSpPr txBox="1"/>
          <p:nvPr/>
        </p:nvSpPr>
        <p:spPr>
          <a:xfrm>
            <a:off x="371627" y="911180"/>
            <a:ext cx="8629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The next step is to create new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datastream by clicking on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    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Datastreams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tab and then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New datastream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button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21C8D8-EFC7-7E8B-EA88-29EB669A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4" y="1924053"/>
            <a:ext cx="8129332" cy="4539499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93851679-00F3-8E79-A8A8-C65479895B91}"/>
              </a:ext>
            </a:extLst>
          </p:cNvPr>
          <p:cNvSpPr/>
          <p:nvPr/>
        </p:nvSpPr>
        <p:spPr>
          <a:xfrm rot="16200000">
            <a:off x="1573513" y="3438171"/>
            <a:ext cx="813861" cy="52146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ABEE484-B857-3A5F-F24C-8BE3EEDF029E}"/>
              </a:ext>
            </a:extLst>
          </p:cNvPr>
          <p:cNvSpPr/>
          <p:nvPr/>
        </p:nvSpPr>
        <p:spPr>
          <a:xfrm>
            <a:off x="4276972" y="6056152"/>
            <a:ext cx="854833" cy="4074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0DA10-B4FE-4D76-94C9-4CF10EDD6F16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5258043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D7BE-B252-02D2-E6CB-4BB19F58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66548AF-3467-FD1F-FA87-6F97B4B196FA}"/>
              </a:ext>
            </a:extLst>
          </p:cNvPr>
          <p:cNvSpPr txBox="1"/>
          <p:nvPr/>
        </p:nvSpPr>
        <p:spPr>
          <a:xfrm>
            <a:off x="0" y="896698"/>
            <a:ext cx="9072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After new datastream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is created, choose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Virtual Pin</a:t>
            </a:r>
            <a:endParaRPr kumimoji="0" lang="th-TH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D2143D-89E1-16F5-3779-B3A202314F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395" t="70628" r="36431" b="8291"/>
          <a:stretch/>
        </p:blipFill>
        <p:spPr>
          <a:xfrm>
            <a:off x="2895600" y="1497285"/>
            <a:ext cx="4294093" cy="4835371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041CEE10-FF1C-A1C2-4203-4A67FF3AD720}"/>
              </a:ext>
            </a:extLst>
          </p:cNvPr>
          <p:cNvSpPr/>
          <p:nvPr/>
        </p:nvSpPr>
        <p:spPr>
          <a:xfrm>
            <a:off x="2241178" y="2705272"/>
            <a:ext cx="1148620" cy="507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1E3309-2B23-4A2D-A271-FBBA802AF9B9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11793310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4AC4-144B-AB60-A712-2DC821CE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850C71-F7F6-F9EC-4BA7-7DCB2CB22C95}"/>
              </a:ext>
            </a:extLst>
          </p:cNvPr>
          <p:cNvSpPr txBox="1"/>
          <p:nvPr/>
        </p:nvSpPr>
        <p:spPr>
          <a:xfrm>
            <a:off x="257142" y="691189"/>
            <a:ext cx="8629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At the bottom of Virtual Pin Datastream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setup screen, click on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Create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button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B00132-5088-E372-C5F5-37F47C299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757" y="1637034"/>
            <a:ext cx="6662392" cy="505293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143D7C6-0883-9831-53FB-4E355B319B3D}"/>
              </a:ext>
            </a:extLst>
          </p:cNvPr>
          <p:cNvSpPr/>
          <p:nvPr/>
        </p:nvSpPr>
        <p:spPr>
          <a:xfrm rot="10800000">
            <a:off x="7539148" y="6308564"/>
            <a:ext cx="1043885" cy="3814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0E7D7-6D19-4D9C-B9BD-FD75B0AF7DF6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13733950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D3DA5-0C5F-F5D1-FC56-6285D4554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E25374-7034-F647-7D66-1BC6ED508AD5}"/>
              </a:ext>
            </a:extLst>
          </p:cNvPr>
          <p:cNvSpPr txBox="1"/>
          <p:nvPr/>
        </p:nvSpPr>
        <p:spPr>
          <a:xfrm>
            <a:off x="315925" y="807817"/>
            <a:ext cx="84963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Repeat creating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Virtual Pin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Datastream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again by clicking at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New datastream 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EB1BC4-5555-ECA5-53DC-BF8BDC65DB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395" t="70628" r="36431" b="8291"/>
          <a:stretch/>
        </p:blipFill>
        <p:spPr>
          <a:xfrm>
            <a:off x="1036670" y="2283853"/>
            <a:ext cx="2382750" cy="2683100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C45041D5-EDD2-0EFA-FE60-CAA3E9B26131}"/>
              </a:ext>
            </a:extLst>
          </p:cNvPr>
          <p:cNvSpPr/>
          <p:nvPr/>
        </p:nvSpPr>
        <p:spPr>
          <a:xfrm>
            <a:off x="701819" y="2928462"/>
            <a:ext cx="583843" cy="3814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58D685-3448-A7A5-6852-9EAD88345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104" y="2207339"/>
            <a:ext cx="5002535" cy="3818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0411A-0A98-419C-9F7C-A486352D4DC9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14476083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0F533-5112-79D7-5419-3CC267AB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92C841-B3BC-8819-5198-37308AB78C2B}"/>
              </a:ext>
            </a:extLst>
          </p:cNvPr>
          <p:cNvSpPr txBox="1"/>
          <p:nvPr/>
        </p:nvSpPr>
        <p:spPr>
          <a:xfrm>
            <a:off x="371627" y="911180"/>
            <a:ext cx="8629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Now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Datastreams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TH Sarabun New" pitchFamily="34" charset="-34"/>
                <a:sym typeface="Wingdings" pitchFamily="2" charset="2"/>
              </a:rPr>
              <a:t>tab should look like this: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9FFC7-184F-2259-D6F1-13E43E40B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13" y="1664051"/>
            <a:ext cx="8727229" cy="2290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741BE3-4765-4960-A0DA-0C71FDB4FDD9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234EF3-8CE8-4A1E-B0F1-8E65657EDB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760" r="36052" b="7920"/>
          <a:stretch/>
        </p:blipFill>
        <p:spPr>
          <a:xfrm>
            <a:off x="778712" y="4715274"/>
            <a:ext cx="8222630" cy="1900784"/>
          </a:xfrm>
          <a:prstGeom prst="rect">
            <a:avLst/>
          </a:prstGeom>
          <a:ln w="25400">
            <a:solidFill>
              <a:schemeClr val="accent5">
                <a:lumMod val="50000"/>
              </a:schemeClr>
            </a:solidFill>
            <a:prstDash val="sysDash"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C15C59-D51C-4412-A6B1-C9FA12AA06A7}"/>
              </a:ext>
            </a:extLst>
          </p:cNvPr>
          <p:cNvCxnSpPr/>
          <p:nvPr/>
        </p:nvCxnSpPr>
        <p:spPr>
          <a:xfrm flipH="1" flipV="1">
            <a:off x="493059" y="3881718"/>
            <a:ext cx="285653" cy="83355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F1CC4C-DBA0-4B27-BF43-D7ADC5BAB70F}"/>
              </a:ext>
            </a:extLst>
          </p:cNvPr>
          <p:cNvCxnSpPr>
            <a:cxnSpLocks/>
          </p:cNvCxnSpPr>
          <p:nvPr/>
        </p:nvCxnSpPr>
        <p:spPr>
          <a:xfrm flipH="1" flipV="1">
            <a:off x="5997390" y="3711388"/>
            <a:ext cx="3003952" cy="100388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913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BADE0-A601-3F53-F00B-F5800613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67E77F-6C9F-86BB-642D-36707A3B95C8}"/>
              </a:ext>
            </a:extLst>
          </p:cNvPr>
          <p:cNvSpPr txBox="1"/>
          <p:nvPr/>
        </p:nvSpPr>
        <p:spPr>
          <a:xfrm>
            <a:off x="371627" y="911180"/>
            <a:ext cx="8629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Go to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Web Dashboard then drag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Switch from widget box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and place on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the Dashboard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BB2B531-736E-B731-F266-CA1E58458F5A}"/>
              </a:ext>
            </a:extLst>
          </p:cNvPr>
          <p:cNvSpPr/>
          <p:nvPr/>
        </p:nvSpPr>
        <p:spPr>
          <a:xfrm rot="16200000">
            <a:off x="-618186" y="3392102"/>
            <a:ext cx="442175" cy="26616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771393A-25C7-CAF9-8E3B-4DF3CA8FA2D8}"/>
              </a:ext>
            </a:extLst>
          </p:cNvPr>
          <p:cNvSpPr/>
          <p:nvPr/>
        </p:nvSpPr>
        <p:spPr>
          <a:xfrm rot="16200000">
            <a:off x="-751268" y="5001109"/>
            <a:ext cx="442175" cy="26616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769606-9069-DFFC-3180-92906C28D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34" y="1868195"/>
            <a:ext cx="7778839" cy="440231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46AD2BE-9E2B-28C7-53C5-BABD3DC24B8A}"/>
              </a:ext>
            </a:extLst>
          </p:cNvPr>
          <p:cNvSpPr/>
          <p:nvPr/>
        </p:nvSpPr>
        <p:spPr>
          <a:xfrm>
            <a:off x="764565" y="3142445"/>
            <a:ext cx="1315357" cy="789904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588325A-BB14-2D0D-E199-D0641066CE7D}"/>
              </a:ext>
            </a:extLst>
          </p:cNvPr>
          <p:cNvSpPr/>
          <p:nvPr/>
        </p:nvSpPr>
        <p:spPr>
          <a:xfrm>
            <a:off x="2090669" y="3402805"/>
            <a:ext cx="2137894" cy="894446"/>
          </a:xfrm>
          <a:custGeom>
            <a:avLst/>
            <a:gdLst>
              <a:gd name="connsiteX0" fmla="*/ 0 w 1700012"/>
              <a:gd name="connsiteY0" fmla="*/ 107198 h 751142"/>
              <a:gd name="connsiteX1" fmla="*/ 1047482 w 1700012"/>
              <a:gd name="connsiteY1" fmla="*/ 51390 h 751142"/>
              <a:gd name="connsiteX2" fmla="*/ 1700012 w 1700012"/>
              <a:gd name="connsiteY2" fmla="*/ 751142 h 751142"/>
              <a:gd name="connsiteX3" fmla="*/ 1700012 w 1700012"/>
              <a:gd name="connsiteY3" fmla="*/ 751142 h 751142"/>
              <a:gd name="connsiteX0" fmla="*/ 0 w 1901781"/>
              <a:gd name="connsiteY0" fmla="*/ 38370 h 845446"/>
              <a:gd name="connsiteX1" fmla="*/ 1249251 w 1901781"/>
              <a:gd name="connsiteY1" fmla="*/ 145694 h 845446"/>
              <a:gd name="connsiteX2" fmla="*/ 1901781 w 1901781"/>
              <a:gd name="connsiteY2" fmla="*/ 845446 h 845446"/>
              <a:gd name="connsiteX3" fmla="*/ 1901781 w 1901781"/>
              <a:gd name="connsiteY3" fmla="*/ 845446 h 845446"/>
              <a:gd name="connsiteX0" fmla="*/ 0 w 1901781"/>
              <a:gd name="connsiteY0" fmla="*/ 87370 h 894446"/>
              <a:gd name="connsiteX1" fmla="*/ 1455313 w 1901781"/>
              <a:gd name="connsiteY1" fmla="*/ 78784 h 894446"/>
              <a:gd name="connsiteX2" fmla="*/ 1901781 w 1901781"/>
              <a:gd name="connsiteY2" fmla="*/ 894446 h 894446"/>
              <a:gd name="connsiteX3" fmla="*/ 1901781 w 1901781"/>
              <a:gd name="connsiteY3" fmla="*/ 894446 h 894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1781" h="894446">
                <a:moveTo>
                  <a:pt x="0" y="87370"/>
                </a:moveTo>
                <a:cubicBezTo>
                  <a:pt x="382073" y="5804"/>
                  <a:pt x="1138350" y="-55729"/>
                  <a:pt x="1455313" y="78784"/>
                </a:cubicBezTo>
                <a:cubicBezTo>
                  <a:pt x="1772276" y="213297"/>
                  <a:pt x="1901781" y="894446"/>
                  <a:pt x="1901781" y="894446"/>
                </a:cubicBezTo>
                <a:lnTo>
                  <a:pt x="1901781" y="894446"/>
                </a:lnTo>
              </a:path>
            </a:pathLst>
          </a:custGeom>
          <a:noFill/>
          <a:ln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83E0011-DEE2-EA84-9B21-78B1FC4CBD2B}"/>
              </a:ext>
            </a:extLst>
          </p:cNvPr>
          <p:cNvSpPr/>
          <p:nvPr/>
        </p:nvSpPr>
        <p:spPr>
          <a:xfrm>
            <a:off x="1785870" y="3872248"/>
            <a:ext cx="2288147" cy="1485362"/>
          </a:xfrm>
          <a:custGeom>
            <a:avLst/>
            <a:gdLst>
              <a:gd name="connsiteX0" fmla="*/ 0 w 1781578"/>
              <a:gd name="connsiteY0" fmla="*/ 0 h 1408090"/>
              <a:gd name="connsiteX1" fmla="*/ 605307 w 1781578"/>
              <a:gd name="connsiteY1" fmla="*/ 1098997 h 1408090"/>
              <a:gd name="connsiteX2" fmla="*/ 1781578 w 1781578"/>
              <a:gd name="connsiteY2" fmla="*/ 1408090 h 1408090"/>
              <a:gd name="connsiteX0" fmla="*/ 0 w 2103550"/>
              <a:gd name="connsiteY0" fmla="*/ 0 h 1468191"/>
              <a:gd name="connsiteX1" fmla="*/ 927279 w 2103550"/>
              <a:gd name="connsiteY1" fmla="*/ 1159098 h 1468191"/>
              <a:gd name="connsiteX2" fmla="*/ 2103550 w 2103550"/>
              <a:gd name="connsiteY2" fmla="*/ 1468191 h 1468191"/>
              <a:gd name="connsiteX0" fmla="*/ 0 w 2288147"/>
              <a:gd name="connsiteY0" fmla="*/ 0 h 1485362"/>
              <a:gd name="connsiteX1" fmla="*/ 927279 w 2288147"/>
              <a:gd name="connsiteY1" fmla="*/ 1159098 h 1485362"/>
              <a:gd name="connsiteX2" fmla="*/ 2288147 w 2288147"/>
              <a:gd name="connsiteY2" fmla="*/ 1485362 h 1485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8147" h="1485362">
                <a:moveTo>
                  <a:pt x="0" y="0"/>
                </a:moveTo>
                <a:cubicBezTo>
                  <a:pt x="154188" y="432157"/>
                  <a:pt x="630349" y="924416"/>
                  <a:pt x="927279" y="1159098"/>
                </a:cubicBezTo>
                <a:cubicBezTo>
                  <a:pt x="1224209" y="1393780"/>
                  <a:pt x="1848476" y="1448156"/>
                  <a:pt x="2288147" y="1485362"/>
                </a:cubicBezTo>
              </a:path>
            </a:pathLst>
          </a:custGeom>
          <a:noFill/>
          <a:ln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3FD47DF-5B50-D477-2902-4970E5444D48}"/>
              </a:ext>
            </a:extLst>
          </p:cNvPr>
          <p:cNvSpPr/>
          <p:nvPr/>
        </p:nvSpPr>
        <p:spPr>
          <a:xfrm>
            <a:off x="4166750" y="4118461"/>
            <a:ext cx="1113303" cy="75114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A0342BE-F26A-5637-438C-7F1F509E9E5E}"/>
              </a:ext>
            </a:extLst>
          </p:cNvPr>
          <p:cNvSpPr/>
          <p:nvPr/>
        </p:nvSpPr>
        <p:spPr>
          <a:xfrm>
            <a:off x="4141279" y="4942338"/>
            <a:ext cx="1113303" cy="751142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13210-9C5F-4CA1-8BD1-11425B3BFEE8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767487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5CAD-69BF-0BA1-14CA-CF3D640B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BC9D42-70C1-21EF-7882-9B365B424720}"/>
              </a:ext>
            </a:extLst>
          </p:cNvPr>
          <p:cNvSpPr txBox="1"/>
          <p:nvPr/>
        </p:nvSpPr>
        <p:spPr>
          <a:xfrm>
            <a:off x="109415" y="911180"/>
            <a:ext cx="8891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Move mouse pointer over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Switch widget, then click on setting icon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D137A8-5575-6E70-39CA-497A95DBCA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568" t="54031" r="40892" b="29214"/>
          <a:stretch/>
        </p:blipFill>
        <p:spPr>
          <a:xfrm>
            <a:off x="3129566" y="2300245"/>
            <a:ext cx="3215426" cy="237478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161FB73D-05BD-AC2C-C929-E68FD6C17A50}"/>
              </a:ext>
            </a:extLst>
          </p:cNvPr>
          <p:cNvSpPr/>
          <p:nvPr/>
        </p:nvSpPr>
        <p:spPr>
          <a:xfrm rot="16200000">
            <a:off x="5020535" y="3988823"/>
            <a:ext cx="583843" cy="3814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AB4590-6785-4064-B119-5AE5A3B9C7E4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189126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B60FB-2C70-E9D8-FD63-648DC2319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7E8C1C-DDA4-78B3-79FC-6CEF0732EB71}"/>
              </a:ext>
            </a:extLst>
          </p:cNvPr>
          <p:cNvSpPr txBox="1"/>
          <p:nvPr/>
        </p:nvSpPr>
        <p:spPr>
          <a:xfrm>
            <a:off x="371627" y="911180"/>
            <a:ext cx="8629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Under Title, type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LED1, then set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Datastream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to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Integer V0 [V0]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     then click on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Save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AC3E1-D0A4-1464-D33C-F3843FDD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71" y="3108101"/>
            <a:ext cx="7079955" cy="3810334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40D3271-6F6F-FC3B-C1EE-1D588C2CDA84}"/>
              </a:ext>
            </a:extLst>
          </p:cNvPr>
          <p:cNvSpPr/>
          <p:nvPr/>
        </p:nvSpPr>
        <p:spPr>
          <a:xfrm>
            <a:off x="573031" y="4078975"/>
            <a:ext cx="583843" cy="3814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2E24EF0-F640-347D-66B8-3F77A3990685}"/>
              </a:ext>
            </a:extLst>
          </p:cNvPr>
          <p:cNvSpPr/>
          <p:nvPr/>
        </p:nvSpPr>
        <p:spPr>
          <a:xfrm>
            <a:off x="573030" y="5184667"/>
            <a:ext cx="583843" cy="3814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38005-64F3-488A-9F02-F03D0B5352E5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5753182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6C17-612B-7521-5B13-42E74C0A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A1CC39-5A1E-1602-28EC-47E6BAC98D18}"/>
              </a:ext>
            </a:extLst>
          </p:cNvPr>
          <p:cNvSpPr txBox="1"/>
          <p:nvPr/>
        </p:nvSpPr>
        <p:spPr>
          <a:xfrm>
            <a:off x="371627" y="911180"/>
            <a:ext cx="8629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Repeat this process for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setting the other Switch 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C617D-BE4E-03A1-8A39-557185AF1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91" y="1414597"/>
            <a:ext cx="7924800" cy="4200525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E55E2316-EF49-514D-6659-0B6E594779F6}"/>
              </a:ext>
            </a:extLst>
          </p:cNvPr>
          <p:cNvSpPr/>
          <p:nvPr/>
        </p:nvSpPr>
        <p:spPr>
          <a:xfrm>
            <a:off x="628837" y="3852285"/>
            <a:ext cx="583843" cy="3814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8BD32C2-7693-E7D1-26BC-E3554C26BCFE}"/>
              </a:ext>
            </a:extLst>
          </p:cNvPr>
          <p:cNvSpPr/>
          <p:nvPr/>
        </p:nvSpPr>
        <p:spPr>
          <a:xfrm>
            <a:off x="628838" y="2624308"/>
            <a:ext cx="583843" cy="3814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544FB-D992-D961-0A1B-D4248797BE38}"/>
              </a:ext>
            </a:extLst>
          </p:cNvPr>
          <p:cNvSpPr txBox="1"/>
          <p:nvPr/>
        </p:nvSpPr>
        <p:spPr>
          <a:xfrm>
            <a:off x="524041" y="5746019"/>
            <a:ext cx="8629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Click on Save when finish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48A26-1185-4DFE-BBC9-BA619D955E19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21294484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9CF06-9C73-D004-8695-A5A5A9FB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37CF1C2-2030-F7E9-50EA-BF9024547667}"/>
              </a:ext>
            </a:extLst>
          </p:cNvPr>
          <p:cNvSpPr txBox="1"/>
          <p:nvPr/>
        </p:nvSpPr>
        <p:spPr>
          <a:xfrm>
            <a:off x="597022" y="1053817"/>
            <a:ext cx="8629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Finally, click on Save button on the right 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81F89D-8977-9950-1E31-C3CF68CB0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305" y="1726037"/>
            <a:ext cx="5027268" cy="209469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E02070C0-697A-8ACA-47EB-3470EA97C980}"/>
              </a:ext>
            </a:extLst>
          </p:cNvPr>
          <p:cNvSpPr/>
          <p:nvPr/>
        </p:nvSpPr>
        <p:spPr>
          <a:xfrm rot="16200000">
            <a:off x="7265751" y="3130878"/>
            <a:ext cx="583843" cy="3814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A3D1D-190D-42E7-8F23-AFF6526D3C3A}"/>
              </a:ext>
            </a:extLst>
          </p:cNvPr>
          <p:cNvSpPr txBox="1"/>
          <p:nvPr/>
        </p:nvSpPr>
        <p:spPr>
          <a:xfrm>
            <a:off x="876757" y="162"/>
            <a:ext cx="7706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TH Sarabun New" pitchFamily="34" charset="-34"/>
              </a:rPr>
              <a:t>Creating a new template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31498127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C773-98A3-701B-8A96-ADD1EA7DE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3B4234-B47B-7F6D-A0BD-5D775594B30B}"/>
              </a:ext>
            </a:extLst>
          </p:cNvPr>
          <p:cNvSpPr txBox="1"/>
          <p:nvPr/>
        </p:nvSpPr>
        <p:spPr>
          <a:xfrm>
            <a:off x="1122415" y="0"/>
            <a:ext cx="66463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Creating device in Blynk Console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32333-2CB1-3BA8-B4B1-E1BF08F67E07}"/>
              </a:ext>
            </a:extLst>
          </p:cNvPr>
          <p:cNvSpPr txBox="1"/>
          <p:nvPr/>
        </p:nvSpPr>
        <p:spPr>
          <a:xfrm>
            <a:off x="597022" y="1053817"/>
            <a:ext cx="8629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Next, choose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Devices from menu on the left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Then, click on + New Device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0D58F15-9067-D3F6-DFF1-4D9E09170412}"/>
              </a:ext>
            </a:extLst>
          </p:cNvPr>
          <p:cNvSpPr/>
          <p:nvPr/>
        </p:nvSpPr>
        <p:spPr>
          <a:xfrm rot="10800000">
            <a:off x="3213199" y="4002348"/>
            <a:ext cx="583843" cy="3814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E65B7F-779D-BFD7-9CCE-A424306F6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92" y="2219840"/>
            <a:ext cx="2193670" cy="42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297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48F3-3E8F-E2E3-3125-427BB196E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9AE501-C58A-A7D5-A692-5F766EEF4B87}"/>
              </a:ext>
            </a:extLst>
          </p:cNvPr>
          <p:cNvSpPr txBox="1"/>
          <p:nvPr/>
        </p:nvSpPr>
        <p:spPr>
          <a:xfrm>
            <a:off x="597023" y="1053817"/>
            <a:ext cx="8441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Choose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From template</a:t>
            </a:r>
            <a:endParaRPr kumimoji="0" lang="th-TH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BAD0F2-24D3-DFFE-A265-471512CDD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041" y="1913717"/>
            <a:ext cx="7066208" cy="418341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A708431-838B-79D7-E222-4B538EF0D8CE}"/>
              </a:ext>
            </a:extLst>
          </p:cNvPr>
          <p:cNvSpPr/>
          <p:nvPr/>
        </p:nvSpPr>
        <p:spPr>
          <a:xfrm>
            <a:off x="1287887" y="2756079"/>
            <a:ext cx="2189408" cy="2322489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BB843B-D85C-CD6B-EB28-56CE3AFBE002}"/>
              </a:ext>
            </a:extLst>
          </p:cNvPr>
          <p:cNvSpPr txBox="1"/>
          <p:nvPr/>
        </p:nvSpPr>
        <p:spPr>
          <a:xfrm>
            <a:off x="1287887" y="0"/>
            <a:ext cx="66463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Creating device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11743838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5462-2BAC-D4DA-6545-9C704A72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1FDA1A-BD43-B6E5-8B3D-E34CC5E1BD28}"/>
              </a:ext>
            </a:extLst>
          </p:cNvPr>
          <p:cNvSpPr txBox="1"/>
          <p:nvPr/>
        </p:nvSpPr>
        <p:spPr>
          <a:xfrm>
            <a:off x="627072" y="942200"/>
            <a:ext cx="8629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Choose the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template we have created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Choose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LED Control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, then click on Create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2301D-AE8E-EA90-5DB1-11DB97336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957" y="2090671"/>
            <a:ext cx="5280527" cy="42424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1917E5-678F-4533-8AAA-BBA5850F5312}"/>
              </a:ext>
            </a:extLst>
          </p:cNvPr>
          <p:cNvSpPr txBox="1"/>
          <p:nvPr/>
        </p:nvSpPr>
        <p:spPr>
          <a:xfrm>
            <a:off x="1392045" y="0"/>
            <a:ext cx="66463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Creating device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38599747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6D34-7449-72B6-9AEE-22E978C7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AF36993-DAE0-F060-022C-7072CCCE006E}"/>
              </a:ext>
            </a:extLst>
          </p:cNvPr>
          <p:cNvSpPr txBox="1"/>
          <p:nvPr/>
        </p:nvSpPr>
        <p:spPr>
          <a:xfrm>
            <a:off x="434660" y="783141"/>
            <a:ext cx="8629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New Device Created!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 message will be displayed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We need to copy the Template ID, Name and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AuthToken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into our sketch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CCD637-334F-B09F-8038-9501AF826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60"/>
          <a:stretch/>
        </p:blipFill>
        <p:spPr>
          <a:xfrm>
            <a:off x="1575646" y="2571261"/>
            <a:ext cx="6543675" cy="37907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023921-FD09-87DD-E440-E8BC190406B9}"/>
              </a:ext>
            </a:extLst>
          </p:cNvPr>
          <p:cNvSpPr txBox="1"/>
          <p:nvPr/>
        </p:nvSpPr>
        <p:spPr>
          <a:xfrm>
            <a:off x="1337338" y="0"/>
            <a:ext cx="66463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Creating device in Blynk Console</a:t>
            </a:r>
          </a:p>
        </p:txBody>
      </p:sp>
    </p:spTree>
    <p:extLst>
      <p:ext uri="{BB962C8B-B14F-4D97-AF65-F5344CB8AC3E}">
        <p14:creationId xmlns:p14="http://schemas.microsoft.com/office/powerpoint/2010/main" val="38367027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60769" y="25249"/>
            <a:ext cx="66439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Test circuit for Blynk Application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19F857-590C-D814-F414-E8725895A2CC}"/>
              </a:ext>
            </a:extLst>
          </p:cNvPr>
          <p:cNvGrpSpPr/>
          <p:nvPr/>
        </p:nvGrpSpPr>
        <p:grpSpPr>
          <a:xfrm>
            <a:off x="3128876" y="1412522"/>
            <a:ext cx="3865222" cy="3440271"/>
            <a:chOff x="5300576" y="1538854"/>
            <a:chExt cx="3865222" cy="344027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A886A75-6B2B-90B6-3149-03674775C9DC}"/>
                </a:ext>
              </a:extLst>
            </p:cNvPr>
            <p:cNvSpPr/>
            <p:nvPr/>
          </p:nvSpPr>
          <p:spPr>
            <a:xfrm>
              <a:off x="5300576" y="1878874"/>
              <a:ext cx="1480457" cy="3100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168E0AD-C2CB-867D-9103-6A7F56F31944}"/>
                </a:ext>
              </a:extLst>
            </p:cNvPr>
            <p:cNvSpPr txBox="1"/>
            <p:nvPr/>
          </p:nvSpPr>
          <p:spPr>
            <a:xfrm>
              <a:off x="5683893" y="1538854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3178364-F904-7B36-12DC-B62A9047E664}"/>
                </a:ext>
              </a:extLst>
            </p:cNvPr>
            <p:cNvGrpSpPr/>
            <p:nvPr/>
          </p:nvGrpSpPr>
          <p:grpSpPr>
            <a:xfrm>
              <a:off x="6781033" y="1723520"/>
              <a:ext cx="2010945" cy="476742"/>
              <a:chOff x="6781033" y="1723520"/>
              <a:chExt cx="2010945" cy="476742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FCBA705-17DC-F0A5-890E-A44B6C92E7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58" name="Picture 5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2940138A-A25B-A681-3461-F88F4B6D6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59" name="Picture 58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3637DC4D-739B-C1F8-984C-63622736EE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855BBE3-9B08-BC9B-798E-AB22CAC9F571}"/>
                </a:ext>
              </a:extLst>
            </p:cNvPr>
            <p:cNvGrpSpPr/>
            <p:nvPr/>
          </p:nvGrpSpPr>
          <p:grpSpPr>
            <a:xfrm>
              <a:off x="6781033" y="2653513"/>
              <a:ext cx="2010945" cy="476742"/>
              <a:chOff x="6781033" y="1723520"/>
              <a:chExt cx="2010945" cy="476742"/>
            </a:xfrm>
          </p:grpSpPr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230015A-5AF4-1B46-D022-4BD3B24F7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52" name="Picture 51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BCB8CDF-251E-27DB-D087-B9FA0087AB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53" name="Picture 52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B75252AF-3725-BDAD-5E2C-D296FE10CD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D7F2640-07DB-8F40-D6B1-3ABE7503D71A}"/>
                </a:ext>
              </a:extLst>
            </p:cNvPr>
            <p:cNvCxnSpPr>
              <a:cxnSpLocks/>
            </p:cNvCxnSpPr>
            <p:nvPr/>
          </p:nvCxnSpPr>
          <p:spPr>
            <a:xfrm>
              <a:off x="8761927" y="2063540"/>
              <a:ext cx="0" cy="12248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045AE04-5D08-98A1-A121-831E8E2EF0E7}"/>
                </a:ext>
              </a:extLst>
            </p:cNvPr>
            <p:cNvGrpSpPr/>
            <p:nvPr/>
          </p:nvGrpSpPr>
          <p:grpSpPr>
            <a:xfrm>
              <a:off x="8680361" y="3188378"/>
              <a:ext cx="485437" cy="200055"/>
              <a:chOff x="8680361" y="3188378"/>
              <a:chExt cx="485437" cy="200055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B6384AC-5E3C-A6E7-3010-E46679E524C7}"/>
                  </a:ext>
                </a:extLst>
              </p:cNvPr>
              <p:cNvCxnSpPr/>
              <p:nvPr/>
            </p:nvCxnSpPr>
            <p:spPr>
              <a:xfrm>
                <a:off x="8680361" y="3288406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D308B2B-814F-6572-10EF-089919E58A31}"/>
                  </a:ext>
                </a:extLst>
              </p:cNvPr>
              <p:cNvSpPr txBox="1"/>
              <p:nvPr/>
            </p:nvSpPr>
            <p:spPr>
              <a:xfrm>
                <a:off x="8791978" y="3188378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8B6B5F1-3A9C-F290-2F00-0E227907A4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191" y="3329189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BB7C0B0-8D9E-75AD-475D-1AC18CF068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28655" y="3379847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8BF377A-0E32-0728-56B4-F7B5B874DA76}"/>
                </a:ext>
              </a:extLst>
            </p:cNvPr>
            <p:cNvSpPr/>
            <p:nvPr/>
          </p:nvSpPr>
          <p:spPr>
            <a:xfrm>
              <a:off x="8713626" y="2018418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7ED61AD-3B40-B591-74B2-020955ADD09C}"/>
                </a:ext>
              </a:extLst>
            </p:cNvPr>
            <p:cNvSpPr/>
            <p:nvPr/>
          </p:nvSpPr>
          <p:spPr>
            <a:xfrm>
              <a:off x="8718458" y="2938438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39F852A7-160E-66DF-EB08-DB19CB99BE45}"/>
                </a:ext>
              </a:extLst>
            </p:cNvPr>
            <p:cNvSpPr/>
            <p:nvPr/>
          </p:nvSpPr>
          <p:spPr>
            <a:xfrm rot="5400000">
              <a:off x="8303562" y="1973723"/>
              <a:ext cx="247014" cy="20606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4232466F-92AB-4328-EB59-082B4F11AF51}"/>
                </a:ext>
              </a:extLst>
            </p:cNvPr>
            <p:cNvSpPr/>
            <p:nvPr/>
          </p:nvSpPr>
          <p:spPr>
            <a:xfrm rot="5400000">
              <a:off x="8303562" y="2890501"/>
              <a:ext cx="247014" cy="206064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17173C0-F81F-3B2C-AAE0-FD22AE280B0A}"/>
                </a:ext>
              </a:extLst>
            </p:cNvPr>
            <p:cNvSpPr txBox="1"/>
            <p:nvPr/>
          </p:nvSpPr>
          <p:spPr>
            <a:xfrm>
              <a:off x="6191181" y="1921242"/>
              <a:ext cx="65594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GPIO23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EE86EC-021F-33B3-FAE1-170D7913DA16}"/>
                </a:ext>
              </a:extLst>
            </p:cNvPr>
            <p:cNvSpPr txBox="1"/>
            <p:nvPr/>
          </p:nvSpPr>
          <p:spPr>
            <a:xfrm>
              <a:off x="6191181" y="2848416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GPIO19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C29393-9F67-A3B5-304F-91D76BE92838}"/>
                </a:ext>
              </a:extLst>
            </p:cNvPr>
            <p:cNvSpPr txBox="1"/>
            <p:nvPr/>
          </p:nvSpPr>
          <p:spPr>
            <a:xfrm>
              <a:off x="7397159" y="1792770"/>
              <a:ext cx="6383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680 Ohm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BCF068B-4228-87F8-C40C-FBB4376B427B}"/>
                </a:ext>
              </a:extLst>
            </p:cNvPr>
            <p:cNvSpPr txBox="1"/>
            <p:nvPr/>
          </p:nvSpPr>
          <p:spPr>
            <a:xfrm>
              <a:off x="7376341" y="2707700"/>
              <a:ext cx="6383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680 Ohm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4400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443B8DE-93C7-4A22-806D-A26B962B2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389813"/>
            <a:ext cx="7679586" cy="43279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072" y="-1954"/>
            <a:ext cx="7011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Install</a:t>
            </a:r>
            <a:r>
              <a:rPr kumimoji="0" lang="th-TH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Blynk Library in</a:t>
            </a:r>
            <a:r>
              <a:rPr kumimoji="0" lang="th-TH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Arduino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838200"/>
            <a:ext cx="57299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Go to menu Tools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 Manage Libraries…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Type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Blynk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in search box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Click install on Blynk library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6800" y="2895774"/>
            <a:ext cx="7391400" cy="1219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4EA6A4-DBD8-5F34-79FB-CC6FCB3D3784}"/>
              </a:ext>
            </a:extLst>
          </p:cNvPr>
          <p:cNvSpPr txBox="1"/>
          <p:nvPr/>
        </p:nvSpPr>
        <p:spPr>
          <a:xfrm>
            <a:off x="5743976" y="3429000"/>
            <a:ext cx="2120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Version 1.3.2</a:t>
            </a:r>
          </a:p>
        </p:txBody>
      </p:sp>
    </p:spTree>
    <p:extLst>
      <p:ext uri="{BB962C8B-B14F-4D97-AF65-F5344CB8AC3E}">
        <p14:creationId xmlns:p14="http://schemas.microsoft.com/office/powerpoint/2010/main" val="35732107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A6E0E-4B11-BADC-59B9-5AA8B7B7A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EC9279A-E899-3925-5694-DF83A385B91F}"/>
              </a:ext>
            </a:extLst>
          </p:cNvPr>
          <p:cNvSpPr txBox="1"/>
          <p:nvPr/>
        </p:nvSpPr>
        <p:spPr>
          <a:xfrm>
            <a:off x="2249087" y="0"/>
            <a:ext cx="46458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Blynk</a:t>
            </a:r>
            <a:r>
              <a:rPr kumimoji="0" lang="th-TH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sketch for</a:t>
            </a:r>
            <a:r>
              <a:rPr kumimoji="0" lang="th-TH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ESP32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50AE0B-5650-086B-CEEA-AF9F6CF782BA}"/>
              </a:ext>
            </a:extLst>
          </p:cNvPr>
          <p:cNvSpPr txBox="1"/>
          <p:nvPr/>
        </p:nvSpPr>
        <p:spPr>
          <a:xfrm>
            <a:off x="838200" y="838200"/>
            <a:ext cx="643637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Download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Blynk_LED_ESP32.ino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sketch from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itchFamily="2" charset="2"/>
              </a:rPr>
              <a:t>https://github.com/watisleelapatra/Arduino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Open the sketch in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Arduino IDE 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Paste the following lines in the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sketch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9A8EDB-3DBE-FEB3-3E0C-E8CA6DB9FC97}"/>
              </a:ext>
            </a:extLst>
          </p:cNvPr>
          <p:cNvSpPr txBox="1"/>
          <p:nvPr/>
        </p:nvSpPr>
        <p:spPr>
          <a:xfrm>
            <a:off x="6605480" y="2874178"/>
            <a:ext cx="22862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Information from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Console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E89888-82DE-D5A9-C079-F0FF5C7BBEF5}"/>
              </a:ext>
            </a:extLst>
          </p:cNvPr>
          <p:cNvSpPr txBox="1"/>
          <p:nvPr/>
        </p:nvSpPr>
        <p:spPr>
          <a:xfrm>
            <a:off x="2356467" y="4257256"/>
            <a:ext cx="1311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EC2640-FCA6-6EB7-E429-157A520AB7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66" t="20276" r="3756" b="37218"/>
          <a:stretch/>
        </p:blipFill>
        <p:spPr>
          <a:xfrm>
            <a:off x="1451019" y="4773452"/>
            <a:ext cx="6015789" cy="1821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86896E-CF70-1B68-352C-16D4ABFA1978}"/>
              </a:ext>
            </a:extLst>
          </p:cNvPr>
          <p:cNvSpPr txBox="1"/>
          <p:nvPr/>
        </p:nvSpPr>
        <p:spPr>
          <a:xfrm>
            <a:off x="1811012" y="2900303"/>
            <a:ext cx="36910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#define BLYNK_TEMPLATE_ID " "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#define BLYNK_TEMPLATE_NAME " 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#define BLYNK_AUTH_TOKEN " "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538A56A-38EE-B55C-4137-7D25E8A8AF4A}"/>
              </a:ext>
            </a:extLst>
          </p:cNvPr>
          <p:cNvCxnSpPr>
            <a:cxnSpLocks/>
          </p:cNvCxnSpPr>
          <p:nvPr/>
        </p:nvCxnSpPr>
        <p:spPr>
          <a:xfrm flipH="1">
            <a:off x="5805702" y="3290257"/>
            <a:ext cx="734459" cy="518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ight Brace 7">
            <a:extLst>
              <a:ext uri="{FF2B5EF4-FFF2-40B4-BE49-F238E27FC236}">
                <a16:creationId xmlns:a16="http://schemas.microsoft.com/office/drawing/2014/main" id="{DDB5E477-A8D1-1A73-C171-E8FC44E776CA}"/>
              </a:ext>
            </a:extLst>
          </p:cNvPr>
          <p:cNvSpPr/>
          <p:nvPr/>
        </p:nvSpPr>
        <p:spPr>
          <a:xfrm>
            <a:off x="5384800" y="3036277"/>
            <a:ext cx="355584" cy="648677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1276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EF0DF-E2E1-7909-6A20-D9FEFDF0B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4A1301F-17A5-ABB0-D35B-1291BDF71C0D}"/>
              </a:ext>
            </a:extLst>
          </p:cNvPr>
          <p:cNvSpPr txBox="1"/>
          <p:nvPr/>
        </p:nvSpPr>
        <p:spPr>
          <a:xfrm>
            <a:off x="1198810" y="1178630"/>
            <a:ext cx="6963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Add your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WiFi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AP and password</a:t>
            </a:r>
            <a:r>
              <a:rPr kumimoji="0" lang="th-TH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in the sketch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E1DE56-354C-E4A6-A651-D5737709442C}"/>
              </a:ext>
            </a:extLst>
          </p:cNvPr>
          <p:cNvGrpSpPr/>
          <p:nvPr/>
        </p:nvGrpSpPr>
        <p:grpSpPr>
          <a:xfrm>
            <a:off x="4763230" y="2764713"/>
            <a:ext cx="2614308" cy="584775"/>
            <a:chOff x="5389384" y="2831409"/>
            <a:chExt cx="2614308" cy="584775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E683BE2-0924-5467-942B-CC02F35ECE20}"/>
                </a:ext>
              </a:extLst>
            </p:cNvPr>
            <p:cNvCxnSpPr/>
            <p:nvPr/>
          </p:nvCxnSpPr>
          <p:spPr>
            <a:xfrm flipH="1">
              <a:off x="5389384" y="3092492"/>
              <a:ext cx="6918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E9B8D01-EF18-3665-602A-D91B5343118F}"/>
                </a:ext>
              </a:extLst>
            </p:cNvPr>
            <p:cNvSpPr txBox="1"/>
            <p:nvPr/>
          </p:nvSpPr>
          <p:spPr>
            <a:xfrm>
              <a:off x="6028471" y="2831409"/>
              <a:ext cx="19752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Wi-Fi AP name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DDB19A6-8FC9-5102-0E20-31A44A284FA4}"/>
              </a:ext>
            </a:extLst>
          </p:cNvPr>
          <p:cNvSpPr txBox="1"/>
          <p:nvPr/>
        </p:nvSpPr>
        <p:spPr>
          <a:xfrm>
            <a:off x="5455046" y="3429000"/>
            <a:ext cx="2853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Password for Wi-Fi AP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2BA4E6-E067-F586-8FFB-311F19C78FA3}"/>
              </a:ext>
            </a:extLst>
          </p:cNvPr>
          <p:cNvCxnSpPr>
            <a:cxnSpLocks/>
          </p:cNvCxnSpPr>
          <p:nvPr/>
        </p:nvCxnSpPr>
        <p:spPr>
          <a:xfrm flipH="1" flipV="1">
            <a:off x="4791018" y="3444328"/>
            <a:ext cx="664028" cy="235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51D14AF-6324-2E10-B93D-4A9D5EBF38CA}"/>
              </a:ext>
            </a:extLst>
          </p:cNvPr>
          <p:cNvSpPr txBox="1"/>
          <p:nvPr/>
        </p:nvSpPr>
        <p:spPr>
          <a:xfrm>
            <a:off x="1770388" y="2695840"/>
            <a:ext cx="31450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ssid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[] = " ";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 pass[] = " ";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B4E72-0513-F827-1E85-6485F39F32BF}"/>
              </a:ext>
            </a:extLst>
          </p:cNvPr>
          <p:cNvSpPr txBox="1"/>
          <p:nvPr/>
        </p:nvSpPr>
        <p:spPr>
          <a:xfrm>
            <a:off x="1198810" y="4643937"/>
            <a:ext cx="4408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Then download the sketch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709C80-D639-4F49-EB43-16B14F2018A9}"/>
              </a:ext>
            </a:extLst>
          </p:cNvPr>
          <p:cNvSpPr txBox="1"/>
          <p:nvPr/>
        </p:nvSpPr>
        <p:spPr>
          <a:xfrm>
            <a:off x="2249087" y="0"/>
            <a:ext cx="46458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Blynk</a:t>
            </a:r>
            <a:r>
              <a:rPr kumimoji="0" lang="th-TH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sketch for</a:t>
            </a:r>
            <a:r>
              <a:rPr kumimoji="0" lang="th-TH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ESP32</a:t>
            </a:r>
          </a:p>
        </p:txBody>
      </p:sp>
    </p:spTree>
    <p:extLst>
      <p:ext uri="{BB962C8B-B14F-4D97-AF65-F5344CB8AC3E}">
        <p14:creationId xmlns:p14="http://schemas.microsoft.com/office/powerpoint/2010/main" val="38215932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98417" y="0"/>
            <a:ext cx="6151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Install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Blynk IoT Mobile Application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922" y="838200"/>
            <a:ext cx="683597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Go to App Store (iPhone) or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Google Play (Android)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Search and install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Blynk IoT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on your mobile phone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After installation, Login using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email you for signing up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There will be the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created Template, Choose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LED Control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9417C-9F5F-4190-BC1E-5ECD7DD6E52C}"/>
              </a:ext>
            </a:extLst>
          </p:cNvPr>
          <p:cNvSpPr txBox="1"/>
          <p:nvPr/>
        </p:nvSpPr>
        <p:spPr>
          <a:xfrm>
            <a:off x="1231657" y="590756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D8510-0199-4F7A-9E23-0EFA537CB39E}"/>
              </a:ext>
            </a:extLst>
          </p:cNvPr>
          <p:cNvSpPr txBox="1"/>
          <p:nvPr/>
        </p:nvSpPr>
        <p:spPr>
          <a:xfrm>
            <a:off x="3140667" y="590153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92AF4-3F3E-4BCC-AFBA-FA4D9D43285E}"/>
              </a:ext>
            </a:extLst>
          </p:cNvPr>
          <p:cNvSpPr txBox="1"/>
          <p:nvPr/>
        </p:nvSpPr>
        <p:spPr>
          <a:xfrm>
            <a:off x="5276418" y="590153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5CD2A-79A7-4244-B571-5960C57D6795}"/>
              </a:ext>
            </a:extLst>
          </p:cNvPr>
          <p:cNvSpPr txBox="1"/>
          <p:nvPr/>
        </p:nvSpPr>
        <p:spPr>
          <a:xfrm>
            <a:off x="7330756" y="5901529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C79433-CBEC-7DB5-CCBD-65959AC35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40" y="2735649"/>
            <a:ext cx="1568556" cy="2788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 descr="A green and white logo&#10;&#10;Description automatically generated">
            <a:extLst>
              <a:ext uri="{FF2B5EF4-FFF2-40B4-BE49-F238E27FC236}">
                <a16:creationId xmlns:a16="http://schemas.microsoft.com/office/drawing/2014/main" id="{EC158190-7E76-6D59-C8AF-9285CC9903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741" y="2735648"/>
            <a:ext cx="1568556" cy="2788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 descr="A screenshot of a login screen&#10;&#10;Description automatically generated">
            <a:extLst>
              <a:ext uri="{FF2B5EF4-FFF2-40B4-BE49-F238E27FC236}">
                <a16:creationId xmlns:a16="http://schemas.microsoft.com/office/drawing/2014/main" id="{46CBDC67-F95E-E804-6081-0889D9C09E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603" y="2750712"/>
            <a:ext cx="1568556" cy="2788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0A28A1E-F0AA-EFCB-658D-AC4FA08D2B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466" y="2750713"/>
            <a:ext cx="1568556" cy="2788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48347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96720" y="-19303"/>
            <a:ext cx="52148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Creating Mobile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921" y="838200"/>
            <a:ext cx="86297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After choosing LED Control template, click on the wrench icon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Add widget by tapping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 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8080"/>
                </a:highligh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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icon 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Then choose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Button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</a:endParaRPr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0E436117-7B07-824A-9E08-882EF17651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91" y="2695977"/>
            <a:ext cx="2135590" cy="37966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F8081900-DDE9-00BA-4E12-2DF17A9247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109" y="2695975"/>
            <a:ext cx="2135590" cy="37966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0AE8DE0-34F3-449F-B0D8-9316D9CA1092}"/>
              </a:ext>
            </a:extLst>
          </p:cNvPr>
          <p:cNvSpPr/>
          <p:nvPr/>
        </p:nvSpPr>
        <p:spPr>
          <a:xfrm>
            <a:off x="1544296" y="2837147"/>
            <a:ext cx="614380" cy="22424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A screenshot of a phone&#10;&#10;Description automatically generated">
            <a:extLst>
              <a:ext uri="{FF2B5EF4-FFF2-40B4-BE49-F238E27FC236}">
                <a16:creationId xmlns:a16="http://schemas.microsoft.com/office/drawing/2014/main" id="{7586F059-1CAE-7909-364B-1E7FF2AE0D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404" y="2695975"/>
            <a:ext cx="2135591" cy="37966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010FC53-B9FB-4437-A28B-46FAB0584A1D}"/>
              </a:ext>
            </a:extLst>
          </p:cNvPr>
          <p:cNvSpPr/>
          <p:nvPr/>
        </p:nvSpPr>
        <p:spPr>
          <a:xfrm>
            <a:off x="5921061" y="3544911"/>
            <a:ext cx="1461837" cy="2715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4239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5921" y="838200"/>
            <a:ext cx="86297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A button will be shown, then tap on the button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Change MODE from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Push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to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Switch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Then set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DATASTREAM to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Integer V0 [V0]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</a:endParaRPr>
          </a:p>
        </p:txBody>
      </p:sp>
      <p:pic>
        <p:nvPicPr>
          <p:cNvPr id="8" name="Picture 7" descr="A screen shot of a phone&#10;&#10;Description automatically generated">
            <a:extLst>
              <a:ext uri="{FF2B5EF4-FFF2-40B4-BE49-F238E27FC236}">
                <a16:creationId xmlns:a16="http://schemas.microsoft.com/office/drawing/2014/main" id="{703033EB-5797-B54A-A1EC-E6000AD65C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02" y="2807594"/>
            <a:ext cx="2181158" cy="38776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877DBF84-6E69-54B9-3AF8-8FABFB5E98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126" y="2811555"/>
            <a:ext cx="2178930" cy="38736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7DC943BD-FD57-486D-96A8-D05D61B5F86D}"/>
              </a:ext>
            </a:extLst>
          </p:cNvPr>
          <p:cNvSpPr/>
          <p:nvPr/>
        </p:nvSpPr>
        <p:spPr>
          <a:xfrm rot="5400000">
            <a:off x="4667000" y="4918119"/>
            <a:ext cx="651423" cy="36698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F7240D2-036E-7C84-64ED-67774F02F4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969" y="2807593"/>
            <a:ext cx="2178930" cy="38736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89D5605C-B8CC-5FD7-70CF-1AA3CBD5C096}"/>
              </a:ext>
            </a:extLst>
          </p:cNvPr>
          <p:cNvCxnSpPr>
            <a:cxnSpLocks/>
          </p:cNvCxnSpPr>
          <p:nvPr/>
        </p:nvCxnSpPr>
        <p:spPr>
          <a:xfrm flipV="1">
            <a:off x="4572000" y="4138411"/>
            <a:ext cx="1807335" cy="442175"/>
          </a:xfrm>
          <a:prstGeom prst="curvedConnector3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6041D4-888C-F33F-71FF-5F34AD47F35C}"/>
              </a:ext>
            </a:extLst>
          </p:cNvPr>
          <p:cNvSpPr txBox="1"/>
          <p:nvPr/>
        </p:nvSpPr>
        <p:spPr>
          <a:xfrm>
            <a:off x="1869281" y="11342"/>
            <a:ext cx="52148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Creating Mobile Application</a:t>
            </a:r>
          </a:p>
        </p:txBody>
      </p:sp>
    </p:spTree>
    <p:extLst>
      <p:ext uri="{BB962C8B-B14F-4D97-AF65-F5344CB8AC3E}">
        <p14:creationId xmlns:p14="http://schemas.microsoft.com/office/powerpoint/2010/main" val="32916051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7655E-8A3A-A4FC-A75D-79278281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E60680-AEFE-D443-4ECE-7FA661692103}"/>
              </a:ext>
            </a:extLst>
          </p:cNvPr>
          <p:cNvSpPr txBox="1"/>
          <p:nvPr/>
        </p:nvSpPr>
        <p:spPr>
          <a:xfrm>
            <a:off x="375921" y="838200"/>
            <a:ext cx="87368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Repeat the process, tap on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8080"/>
                </a:highligh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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then choose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Button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Change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Mode to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Switch and set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DATASTREAM to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Integer V1 [V1]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Tap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anose="05000000000000000000" pitchFamily="2" charset="2"/>
              </a:rPr>
              <a:t>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anose="05000000000000000000" pitchFamily="2" charset="2"/>
              </a:rPr>
              <a:t> icon (top left of the screen)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to go back to Application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Wingdings" pitchFamily="2" charset="2"/>
              </a:rPr>
              <a:t>main screen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</a:endParaRPr>
          </a:p>
        </p:txBody>
      </p:sp>
      <p:pic>
        <p:nvPicPr>
          <p:cNvPr id="18" name="Picture 1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FAB3F-5930-FBF2-F745-6D1F023523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606" y="2351406"/>
            <a:ext cx="2210170" cy="39291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 descr="A screenshot of a device&#10;&#10;Description automatically generated">
            <a:extLst>
              <a:ext uri="{FF2B5EF4-FFF2-40B4-BE49-F238E27FC236}">
                <a16:creationId xmlns:a16="http://schemas.microsoft.com/office/drawing/2014/main" id="{66D0623F-301D-8694-799C-858F009E1F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72" y="2351405"/>
            <a:ext cx="2190853" cy="38948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 descr="A screenshot of a device&#10;&#10;Description automatically generated">
            <a:extLst>
              <a:ext uri="{FF2B5EF4-FFF2-40B4-BE49-F238E27FC236}">
                <a16:creationId xmlns:a16="http://schemas.microsoft.com/office/drawing/2014/main" id="{DD82F5EC-BABA-1038-8059-B18A581E82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851" y="2351406"/>
            <a:ext cx="2210170" cy="39291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7A15BE-6CBB-689A-5A72-BDECFF97CD6B}"/>
              </a:ext>
            </a:extLst>
          </p:cNvPr>
          <p:cNvSpPr txBox="1"/>
          <p:nvPr/>
        </p:nvSpPr>
        <p:spPr>
          <a:xfrm>
            <a:off x="1896720" y="-19303"/>
            <a:ext cx="52148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Creating Mobile Application</a:t>
            </a:r>
          </a:p>
        </p:txBody>
      </p:sp>
    </p:spTree>
    <p:extLst>
      <p:ext uri="{BB962C8B-B14F-4D97-AF65-F5344CB8AC3E}">
        <p14:creationId xmlns:p14="http://schemas.microsoft.com/office/powerpoint/2010/main" val="29010603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003" y="798871"/>
            <a:ext cx="90099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Create a new template in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Blynk Console, go to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Developer zone and click on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 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New template 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Type DHT11 under Name, choose ESP32 for Hardware and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WiFi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for Connection Type 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A2A190-FB89-46BD-8499-43546667C31B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D66054-BA1A-50C2-014B-74C01A1D3051}"/>
              </a:ext>
            </a:extLst>
          </p:cNvPr>
          <p:cNvGrpSpPr/>
          <p:nvPr/>
        </p:nvGrpSpPr>
        <p:grpSpPr>
          <a:xfrm>
            <a:off x="2134857" y="3303456"/>
            <a:ext cx="4811869" cy="3090440"/>
            <a:chOff x="2134857" y="3303456"/>
            <a:chExt cx="4811869" cy="309044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7C2AA68-8FDE-D18F-10D1-093A071E3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4857" y="3303456"/>
              <a:ext cx="4811869" cy="309044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6819AEA-C63F-3EEC-64C0-44F237E7B8ED}"/>
                </a:ext>
              </a:extLst>
            </p:cNvPr>
            <p:cNvSpPr txBox="1"/>
            <p:nvPr/>
          </p:nvSpPr>
          <p:spPr>
            <a:xfrm>
              <a:off x="2270522" y="4307028"/>
              <a:ext cx="62857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ESP32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56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003" y="798871"/>
            <a:ext cx="9009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Add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Virtual Pin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for DATASTREAM and set other parameters as follow: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  <a:p>
            <a:pPr marL="914400" marR="0" lvl="1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5DB61-342B-926F-F075-0279AB5C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50" y="2153360"/>
            <a:ext cx="7423920" cy="38291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4BF4C85-A99E-B7CF-C272-736427E9C478}"/>
              </a:ext>
            </a:extLst>
          </p:cNvPr>
          <p:cNvSpPr/>
          <p:nvPr/>
        </p:nvSpPr>
        <p:spPr>
          <a:xfrm>
            <a:off x="1214144" y="4410618"/>
            <a:ext cx="1461837" cy="6677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1B6591-3BCC-B80A-7CF1-D379434AC093}"/>
              </a:ext>
            </a:extLst>
          </p:cNvPr>
          <p:cNvSpPr/>
          <p:nvPr/>
        </p:nvSpPr>
        <p:spPr>
          <a:xfrm>
            <a:off x="3624383" y="5205749"/>
            <a:ext cx="1461837" cy="6677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5EF22A-32C7-181B-BA13-A3F0526046C1}"/>
              </a:ext>
            </a:extLst>
          </p:cNvPr>
          <p:cNvSpPr/>
          <p:nvPr/>
        </p:nvSpPr>
        <p:spPr>
          <a:xfrm>
            <a:off x="4831987" y="3611533"/>
            <a:ext cx="1461837" cy="6677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FC0520-4772-78E6-56C2-7351848A50EC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4591938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003" y="798871"/>
            <a:ext cx="9009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Add 2</a:t>
            </a:r>
            <a:r>
              <a:rPr kumimoji="0" lang="en-US" sz="3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nd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DATASTREAM by choosing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Virtual Pin and set parameters as follow: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E305DE-EA40-41FC-CF11-0A510077B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32" y="1817014"/>
            <a:ext cx="7171083" cy="36941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1BEE88A-204E-5D27-E106-1B6F9E22F4E0}"/>
              </a:ext>
            </a:extLst>
          </p:cNvPr>
          <p:cNvSpPr/>
          <p:nvPr/>
        </p:nvSpPr>
        <p:spPr>
          <a:xfrm>
            <a:off x="1611709" y="3866322"/>
            <a:ext cx="1578752" cy="7504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C6912F-763D-3A1E-9891-3E632D1E6DB4}"/>
              </a:ext>
            </a:extLst>
          </p:cNvPr>
          <p:cNvSpPr/>
          <p:nvPr/>
        </p:nvSpPr>
        <p:spPr>
          <a:xfrm>
            <a:off x="4827017" y="3198569"/>
            <a:ext cx="1461837" cy="66775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45C09B-ED16-1776-7340-26EE30C2D1D7}"/>
              </a:ext>
            </a:extLst>
          </p:cNvPr>
          <p:cNvSpPr/>
          <p:nvPr/>
        </p:nvSpPr>
        <p:spPr>
          <a:xfrm>
            <a:off x="3798317" y="4659097"/>
            <a:ext cx="1461837" cy="7229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50AA0-2140-DEBD-B345-1F26392A60EC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40548896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003" y="798871"/>
            <a:ext cx="9009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Finally, click on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Save And Apply</a:t>
            </a:r>
            <a:endParaRPr kumimoji="0" lang="th-TH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CE208-2CA4-45CC-B3FE-77351C0A3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6" y="2268457"/>
            <a:ext cx="8210788" cy="255546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9320514-63C2-0DDF-9E64-2EBA8FF05B71}"/>
              </a:ext>
            </a:extLst>
          </p:cNvPr>
          <p:cNvSpPr/>
          <p:nvPr/>
        </p:nvSpPr>
        <p:spPr>
          <a:xfrm>
            <a:off x="7450948" y="2058938"/>
            <a:ext cx="1578752" cy="7504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8A30C6-39AE-8495-2C5B-46ED338916DC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17945601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003" y="798871"/>
            <a:ext cx="90099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Next, go to Devices menu and click on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+New Device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Click on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From template</a:t>
            </a:r>
            <a:r>
              <a:rPr kumimoji="0" lang="th-TH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D9FCD-EC89-8B70-1F18-D26FB8812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847" y="2042489"/>
            <a:ext cx="6184765" cy="40974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5A15F1D-5E91-34B2-6708-B9A9E39D40CA}"/>
              </a:ext>
            </a:extLst>
          </p:cNvPr>
          <p:cNvSpPr/>
          <p:nvPr/>
        </p:nvSpPr>
        <p:spPr>
          <a:xfrm>
            <a:off x="1785643" y="2794432"/>
            <a:ext cx="1578752" cy="200119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DF19C2-8356-FEAC-9C32-EB5838A7DB8D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30827058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003" y="798871"/>
            <a:ext cx="9009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Choose DHT11 for Template</a:t>
            </a:r>
            <a:r>
              <a:rPr kumimoji="0" lang="th-TH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, then click</a:t>
            </a:r>
            <a:r>
              <a:rPr kumimoji="0" lang="th-TH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Create</a:t>
            </a:r>
            <a:endParaRPr kumimoji="0" lang="th-TH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416CF-EA12-8B24-0CE2-DAF24C09F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96" y="2201646"/>
            <a:ext cx="4770575" cy="38574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80C005-A50D-034E-77AD-FCD64D9028D0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26868354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003" y="798871"/>
            <a:ext cx="90099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Template ID, Template Name and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Token will be generated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Click on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Copy to clipboard, then paste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these information in your sketch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352E31-33B5-5C0A-410E-74CE89497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74" y="2208764"/>
            <a:ext cx="6981825" cy="4219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F75DE8-B520-B3E4-348A-922DA29BE72D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25323081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72C4388-AFDE-4D03-8300-F1B98C67E037}"/>
              </a:ext>
            </a:extLst>
          </p:cNvPr>
          <p:cNvSpPr txBox="1"/>
          <p:nvPr/>
        </p:nvSpPr>
        <p:spPr>
          <a:xfrm>
            <a:off x="283571" y="857780"/>
            <a:ext cx="900999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Build the following circuit on breadboard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Download</a:t>
            </a:r>
            <a:r>
              <a:rPr kumimoji="0" lang="th-TH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Blynk_DHT11_ESP32.ino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sketch from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itchFamily="2" charset="2"/>
              </a:rPr>
              <a:t>https://github.com/watisleelapatra/Arduino</a:t>
            </a:r>
            <a:endParaRPr kumimoji="0" lang="th-TH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51C17-AE97-9BEA-394E-1339DE2F5A36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3E40C2-125A-2688-67CF-6F875F40EAE4}"/>
              </a:ext>
            </a:extLst>
          </p:cNvPr>
          <p:cNvGrpSpPr/>
          <p:nvPr/>
        </p:nvGrpSpPr>
        <p:grpSpPr>
          <a:xfrm>
            <a:off x="2828290" y="2644140"/>
            <a:ext cx="4010172" cy="2506198"/>
            <a:chOff x="0" y="0"/>
            <a:chExt cx="3577210" cy="230942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FA0000D-57B1-506F-AA04-D88E24707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2697" y="0"/>
              <a:ext cx="1324513" cy="151288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365212-23EF-065E-F697-E636233DFC08}"/>
                </a:ext>
              </a:extLst>
            </p:cNvPr>
            <p:cNvSpPr/>
            <p:nvPr/>
          </p:nvSpPr>
          <p:spPr>
            <a:xfrm>
              <a:off x="0" y="888686"/>
              <a:ext cx="1298502" cy="14207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2FA24FC9-637E-6DFB-898A-CF4D13A686A2}"/>
                </a:ext>
              </a:extLst>
            </p:cNvPr>
            <p:cNvSpPr txBox="1"/>
            <p:nvPr/>
          </p:nvSpPr>
          <p:spPr>
            <a:xfrm>
              <a:off x="332078" y="932108"/>
              <a:ext cx="850134" cy="64861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  <a:cs typeface="+mn-cs"/>
                </a:rPr>
                <a:t>ESP32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823947B-D1A3-9618-0CE9-F4FB2027B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2665" y="1434466"/>
              <a:ext cx="0" cy="18055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017E104-0840-36A2-0688-BE64DFA006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0721" y="1403907"/>
              <a:ext cx="0" cy="383599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EA99FE9-CF5F-9BB3-E3D9-24AC3D062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9510" y="1352137"/>
              <a:ext cx="0" cy="619966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84A4DCC-C7EC-4975-21BA-6F41BBE134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8502" y="1615025"/>
              <a:ext cx="1926998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21BCCF-32E2-0494-B9BD-752DC307FD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8502" y="1787506"/>
              <a:ext cx="2032219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1F3CC30-B712-0A12-57E0-8693426080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8502" y="1972103"/>
              <a:ext cx="2161008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75">
              <a:extLst>
                <a:ext uri="{FF2B5EF4-FFF2-40B4-BE49-F238E27FC236}">
                  <a16:creationId xmlns:a16="http://schemas.microsoft.com/office/drawing/2014/main" id="{6C0138AC-2503-B867-707E-1438A363BAD6}"/>
                </a:ext>
              </a:extLst>
            </p:cNvPr>
            <p:cNvSpPr txBox="1"/>
            <p:nvPr/>
          </p:nvSpPr>
          <p:spPr>
            <a:xfrm>
              <a:off x="1039743" y="1947205"/>
              <a:ext cx="491014" cy="26767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  <a:cs typeface="+mn-cs"/>
                </a:rPr>
                <a:t>GND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sp>
          <p:nvSpPr>
            <p:cNvPr id="22" name="TextBox 76">
              <a:extLst>
                <a:ext uri="{FF2B5EF4-FFF2-40B4-BE49-F238E27FC236}">
                  <a16:creationId xmlns:a16="http://schemas.microsoft.com/office/drawing/2014/main" id="{661E1005-B185-9190-FEC9-9D367640684C}"/>
                </a:ext>
              </a:extLst>
            </p:cNvPr>
            <p:cNvSpPr txBox="1"/>
            <p:nvPr/>
          </p:nvSpPr>
          <p:spPr>
            <a:xfrm>
              <a:off x="1150777" y="1729322"/>
              <a:ext cx="258917" cy="150285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  <a:cs typeface="+mn-cs"/>
                </a:rPr>
                <a:t>3V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  <p:sp>
          <p:nvSpPr>
            <p:cNvPr id="23" name="TextBox 77">
              <a:extLst>
                <a:ext uri="{FF2B5EF4-FFF2-40B4-BE49-F238E27FC236}">
                  <a16:creationId xmlns:a16="http://schemas.microsoft.com/office/drawing/2014/main" id="{29F06C06-5301-BCCE-BB35-C3EF6E76799B}"/>
                </a:ext>
              </a:extLst>
            </p:cNvPr>
            <p:cNvSpPr txBox="1"/>
            <p:nvPr/>
          </p:nvSpPr>
          <p:spPr>
            <a:xfrm>
              <a:off x="1097544" y="1522850"/>
              <a:ext cx="379782" cy="175332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Times New Roman" panose="02020603050405020304" pitchFamily="18" charset="0"/>
                  <a:cs typeface="+mn-cs"/>
                </a:rPr>
                <a:t>D13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90763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72C4388-AFDE-4D03-8300-F1B98C67E037}"/>
              </a:ext>
            </a:extLst>
          </p:cNvPr>
          <p:cNvSpPr txBox="1"/>
          <p:nvPr/>
        </p:nvSpPr>
        <p:spPr>
          <a:xfrm>
            <a:off x="35795" y="619238"/>
            <a:ext cx="9009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Add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Template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ID, Name and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AuthToken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from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Blynk console in your sketch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Add Wi-Fi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AP name and Password, then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download sketch to ESP32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FD2BAFA-7A05-DBE8-44BB-A7B2698402D9}"/>
              </a:ext>
            </a:extLst>
          </p:cNvPr>
          <p:cNvGrpSpPr/>
          <p:nvPr/>
        </p:nvGrpSpPr>
        <p:grpSpPr>
          <a:xfrm>
            <a:off x="194544" y="2475040"/>
            <a:ext cx="8754912" cy="813283"/>
            <a:chOff x="225059" y="2766825"/>
            <a:chExt cx="8754912" cy="81328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02A8AF3-4247-2A4B-7E66-7790CC4BD2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35" t="19435" r="25071" b="67704"/>
            <a:stretch/>
          </p:blipFill>
          <p:spPr>
            <a:xfrm>
              <a:off x="225059" y="2766825"/>
              <a:ext cx="8754912" cy="813283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DBD6BA0-8BD2-068D-AC2F-82A95E97FD24}"/>
                </a:ext>
              </a:extLst>
            </p:cNvPr>
            <p:cNvCxnSpPr/>
            <p:nvPr/>
          </p:nvCxnSpPr>
          <p:spPr>
            <a:xfrm>
              <a:off x="3618854" y="2991173"/>
              <a:ext cx="1425844" cy="0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3EB2EF5-497E-3207-3DD8-D1EDD053CC1C}"/>
                </a:ext>
              </a:extLst>
            </p:cNvPr>
            <p:cNvCxnSpPr>
              <a:cxnSpLocks/>
            </p:cNvCxnSpPr>
            <p:nvPr/>
          </p:nvCxnSpPr>
          <p:spPr>
            <a:xfrm>
              <a:off x="3608523" y="3236561"/>
              <a:ext cx="560521" cy="0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A161FE-1619-DC20-4889-8030FCCAF916}"/>
                </a:ext>
              </a:extLst>
            </p:cNvPr>
            <p:cNvCxnSpPr>
              <a:cxnSpLocks/>
            </p:cNvCxnSpPr>
            <p:nvPr/>
          </p:nvCxnSpPr>
          <p:spPr>
            <a:xfrm>
              <a:off x="3618854" y="3507783"/>
              <a:ext cx="3502617" cy="0"/>
            </a:xfrm>
            <a:prstGeom prst="line">
              <a:avLst/>
            </a:prstGeom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417FB646-A3D7-2EA2-4434-82354B5A0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68" y="3644872"/>
            <a:ext cx="4817786" cy="29117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F7A88C-8FDC-E22E-8729-A22CFCC12EBF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28293539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003" y="646471"/>
            <a:ext cx="90099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Open Blynk IoT App on mobile phone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Choose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DHT11 Display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template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Add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Gauge Widget and rename to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Temperature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and set DATASTREAM to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itchFamily="34" charset="-34"/>
                <a:ea typeface="+mn-ea"/>
                <a:cs typeface="TH Sarabun New" pitchFamily="34" charset="-34"/>
                <a:sym typeface="Symbol" panose="05050102010706020507" pitchFamily="18" charset="2"/>
              </a:rPr>
              <a:t>Integer V0 [V0]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itchFamily="34" charset="-34"/>
              <a:ea typeface="+mn-ea"/>
              <a:cs typeface="TH Sarabun New" pitchFamily="34" charset="-34"/>
              <a:sym typeface="Wingdings" pitchFamily="2" charset="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pic>
        <p:nvPicPr>
          <p:cNvPr id="6" name="Picture 5" descr="Screenshot of a screenshot of a cell phone&#10;&#10;Description automatically generated">
            <a:extLst>
              <a:ext uri="{FF2B5EF4-FFF2-40B4-BE49-F238E27FC236}">
                <a16:creationId xmlns:a16="http://schemas.microsoft.com/office/drawing/2014/main" id="{2D198F4B-28E5-D819-FAC4-ACBE14308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754" y="2345635"/>
            <a:ext cx="2418004" cy="42986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46349A38-A2D6-73F4-C802-E179A28400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733" y="2345634"/>
            <a:ext cx="2418004" cy="42986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1AAA86-D300-DAC4-A73D-0ACE7D204985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31248822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660329"/>
            <a:ext cx="94169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Add the 2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Gauge, rename it to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Humidity,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set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DATASTREAM to 	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Integer V1 [V1]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Tap on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X to close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current screen, then tap on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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to go back to main screen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pic>
        <p:nvPicPr>
          <p:cNvPr id="4" name="Picture 3" descr="A screenshot of a phone&#10;&#10;Description automatically generated">
            <a:extLst>
              <a:ext uri="{FF2B5EF4-FFF2-40B4-BE49-F238E27FC236}">
                <a16:creationId xmlns:a16="http://schemas.microsoft.com/office/drawing/2014/main" id="{21812E6D-0609-6BA3-3C3C-B169E1462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892" y="1997766"/>
            <a:ext cx="2588522" cy="46018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 descr="Screens screenshot of a phone&#10;&#10;Description automatically generated">
            <a:extLst>
              <a:ext uri="{FF2B5EF4-FFF2-40B4-BE49-F238E27FC236}">
                <a16:creationId xmlns:a16="http://schemas.microsoft.com/office/drawing/2014/main" id="{3FDA0D47-0659-8394-07B3-FE0D87847D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997766"/>
            <a:ext cx="2588522" cy="46018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662075-77CA-5A0D-7DF2-1B4DD2A9EEF3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15642156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003" y="707886"/>
            <a:ext cx="9009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Data from DHT11 will be displayed and updated every </a:t>
            </a:r>
            <a:r>
              <a:rPr kumimoji="0" lang="th-TH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5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seconds</a:t>
            </a:r>
            <a:endParaRPr kumimoji="0" lang="th-TH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A351A-FBB7-9A68-41C6-B612FBD5F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097" y="1423876"/>
            <a:ext cx="3021806" cy="5372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D45171-C2ED-0CB2-0B66-DCE2FC100760}"/>
              </a:ext>
            </a:extLst>
          </p:cNvPr>
          <p:cNvSpPr txBox="1"/>
          <p:nvPr/>
        </p:nvSpPr>
        <p:spPr>
          <a:xfrm>
            <a:off x="1337832" y="0"/>
            <a:ext cx="64059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Sending DHT11 data to</a:t>
            </a:r>
            <a:r>
              <a:rPr kumimoji="0" lang="th-TH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Blynk IoT App</a:t>
            </a:r>
          </a:p>
        </p:txBody>
      </p:sp>
    </p:spTree>
    <p:extLst>
      <p:ext uri="{BB962C8B-B14F-4D97-AF65-F5344CB8AC3E}">
        <p14:creationId xmlns:p14="http://schemas.microsoft.com/office/powerpoint/2010/main" val="2791718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DC798-8507-7C40-7B49-BB08882F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3D178C-18C7-FCBA-04B1-AAFEDA1F73DC}"/>
              </a:ext>
            </a:extLst>
          </p:cNvPr>
          <p:cNvSpPr txBox="1"/>
          <p:nvPr/>
        </p:nvSpPr>
        <p:spPr>
          <a:xfrm>
            <a:off x="2389403" y="25516"/>
            <a:ext cx="52389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Alphanumeric LCD (revisited)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04D39-6708-A45A-3691-FBDB24424439}"/>
              </a:ext>
            </a:extLst>
          </p:cNvPr>
          <p:cNvSpPr txBox="1"/>
          <p:nvPr/>
        </p:nvSpPr>
        <p:spPr>
          <a:xfrm>
            <a:off x="625374" y="800686"/>
            <a:ext cx="78038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Inter-Integrated Circuit (IIC or I</a:t>
            </a:r>
            <a:r>
              <a:rPr lang="en-US" sz="2000" baseline="30000" dirty="0">
                <a:cs typeface="Arial" panose="020B0604020202020204" pitchFamily="34" charset="0"/>
              </a:rPr>
              <a:t>2</a:t>
            </a:r>
            <a:r>
              <a:rPr lang="en-US" sz="2000" dirty="0">
                <a:cs typeface="Arial" panose="020B0604020202020204" pitchFamily="34" charset="0"/>
              </a:rPr>
              <a:t>C) is used to simplified communication </a:t>
            </a:r>
          </a:p>
          <a:p>
            <a:r>
              <a:rPr lang="en-US" sz="2000" dirty="0">
                <a:cs typeface="Arial" panose="020B0604020202020204" pitchFamily="34" charset="0"/>
              </a:rPr>
              <a:t>     between LCD module and ESP32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I</a:t>
            </a:r>
            <a:r>
              <a:rPr lang="en-US" sz="2000" baseline="30000" dirty="0">
                <a:cs typeface="Arial" panose="020B0604020202020204" pitchFamily="34" charset="0"/>
              </a:rPr>
              <a:t>2</a:t>
            </a:r>
            <a:r>
              <a:rPr lang="en-US" sz="2000" dirty="0">
                <a:cs typeface="Arial" panose="020B0604020202020204" pitchFamily="34" charset="0"/>
              </a:rPr>
              <a:t>C uses only 2 I/O lines for communication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6D406-2EEA-CA3F-559B-4D66CF59B8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12" b="9524"/>
          <a:stretch/>
        </p:blipFill>
        <p:spPr>
          <a:xfrm>
            <a:off x="543023" y="2809491"/>
            <a:ext cx="2987391" cy="23918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DC1CD7-53E4-ACF9-88C9-EAEABB6E88A2}"/>
              </a:ext>
            </a:extLst>
          </p:cNvPr>
          <p:cNvSpPr txBox="1"/>
          <p:nvPr/>
        </p:nvSpPr>
        <p:spPr>
          <a:xfrm>
            <a:off x="1717435" y="5147283"/>
            <a:ext cx="15078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050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controller board</a:t>
            </a:r>
            <a:endParaRPr lang="en-US" sz="1050" b="1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342B64-AF89-4366-C5F2-4402A7DB4F59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231291" y="4348459"/>
            <a:ext cx="240074" cy="7988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CC712F7-9B72-4860-02C7-39915F7DA5C3}"/>
              </a:ext>
            </a:extLst>
          </p:cNvPr>
          <p:cNvGrpSpPr/>
          <p:nvPr/>
        </p:nvGrpSpPr>
        <p:grpSpPr>
          <a:xfrm>
            <a:off x="4760997" y="2484031"/>
            <a:ext cx="3880725" cy="2770549"/>
            <a:chOff x="5334002" y="2808474"/>
            <a:chExt cx="4696778" cy="33136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37F889-3A00-ED4F-B632-7D1F37FAE107}"/>
                </a:ext>
              </a:extLst>
            </p:cNvPr>
            <p:cNvSpPr/>
            <p:nvPr/>
          </p:nvSpPr>
          <p:spPr>
            <a:xfrm>
              <a:off x="5334002" y="2808474"/>
              <a:ext cx="1571556" cy="16992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F3A956D-40BA-CC17-30B1-C48EDA4FD9AE}"/>
                </a:ext>
              </a:extLst>
            </p:cNvPr>
            <p:cNvSpPr txBox="1"/>
            <p:nvPr/>
          </p:nvSpPr>
          <p:spPr>
            <a:xfrm>
              <a:off x="5735918" y="2860485"/>
              <a:ext cx="829723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latin typeface="Arial" panose="020B0604020202020204" pitchFamily="34" charset="0"/>
                  <a:cs typeface="Arial" panose="020B0604020202020204" pitchFamily="34" charset="0"/>
                </a:rPr>
                <a:t>ESP32</a:t>
              </a:r>
              <a:endParaRPr lang="en-US" sz="105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37000C-D9A0-833E-ADEF-A1966D092F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5641" y="5246874"/>
              <a:ext cx="805174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42C037B-4919-F4F0-1343-BE692FDF3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5032" y="4507712"/>
              <a:ext cx="0" cy="73916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8B9B69-3266-58DF-DBB2-D3D5A7CF25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7212" y="5486392"/>
              <a:ext cx="1126890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DBB6869-A561-A426-F5DF-9EC04228FD66}"/>
                </a:ext>
              </a:extLst>
            </p:cNvPr>
            <p:cNvSpPr txBox="1"/>
            <p:nvPr/>
          </p:nvSpPr>
          <p:spPr>
            <a:xfrm>
              <a:off x="6464258" y="4333831"/>
              <a:ext cx="313151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825" b="1" dirty="0">
                  <a:latin typeface="Arial" panose="020B0604020202020204" pitchFamily="34" charset="0"/>
                  <a:cs typeface="Arial" panose="020B0604020202020204" pitchFamily="34" charset="0"/>
                </a:rPr>
                <a:t>GND</a:t>
              </a:r>
              <a:endParaRPr lang="en-US" sz="825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EFE3BC9-8DE8-94C5-ED8C-30C9BD30DAC5}"/>
                </a:ext>
              </a:extLst>
            </p:cNvPr>
            <p:cNvSpPr txBox="1"/>
            <p:nvPr/>
          </p:nvSpPr>
          <p:spPr>
            <a:xfrm>
              <a:off x="6147037" y="4326095"/>
              <a:ext cx="189072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825" b="1" dirty="0">
                  <a:latin typeface="Arial" panose="020B0604020202020204" pitchFamily="34" charset="0"/>
                  <a:cs typeface="Arial" panose="020B0604020202020204" pitchFamily="34" charset="0"/>
                </a:rPr>
                <a:t>5V</a:t>
              </a:r>
              <a:endParaRPr lang="en-US" sz="825" b="1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178B1A9-4979-C3C0-77AC-F0B9E1F65063}"/>
                </a:ext>
              </a:extLst>
            </p:cNvPr>
            <p:cNvSpPr txBox="1"/>
            <p:nvPr/>
          </p:nvSpPr>
          <p:spPr>
            <a:xfrm>
              <a:off x="5469523" y="4316446"/>
              <a:ext cx="266395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825" b="1" dirty="0">
                  <a:latin typeface="Arial" panose="020B0604020202020204" pitchFamily="34" charset="0"/>
                  <a:cs typeface="Arial" panose="020B0604020202020204" pitchFamily="34" charset="0"/>
                </a:rPr>
                <a:t>D22</a:t>
              </a:r>
              <a:endParaRPr lang="en-US" sz="825" b="1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C3C6D87-DA42-FDF8-E4E4-BF24CE5E4523}"/>
                </a:ext>
              </a:extLst>
            </p:cNvPr>
            <p:cNvSpPr txBox="1"/>
            <p:nvPr/>
          </p:nvSpPr>
          <p:spPr>
            <a:xfrm>
              <a:off x="5803641" y="4316446"/>
              <a:ext cx="266395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825" b="1" dirty="0">
                  <a:latin typeface="Arial" panose="020B0604020202020204" pitchFamily="34" charset="0"/>
                  <a:cs typeface="Arial" panose="020B0604020202020204" pitchFamily="34" charset="0"/>
                </a:rPr>
                <a:t>D21</a:t>
              </a:r>
              <a:endParaRPr lang="en-US" sz="825" b="1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21DFF8-5C40-15BA-3231-123F9B2B9919}"/>
                </a:ext>
              </a:extLst>
            </p:cNvPr>
            <p:cNvSpPr/>
            <p:nvPr/>
          </p:nvSpPr>
          <p:spPr>
            <a:xfrm>
              <a:off x="7360264" y="5068389"/>
              <a:ext cx="2670516" cy="1053735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F9F2D51-D3EB-7C93-6F26-1DA4ACE68FB3}"/>
                </a:ext>
              </a:extLst>
            </p:cNvPr>
            <p:cNvSpPr/>
            <p:nvPr/>
          </p:nvSpPr>
          <p:spPr>
            <a:xfrm>
              <a:off x="7563394" y="5281749"/>
              <a:ext cx="2283165" cy="58741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A0FA4EE-C99F-F043-8CEE-6E67C62654C2}"/>
                </a:ext>
              </a:extLst>
            </p:cNvPr>
            <p:cNvSpPr txBox="1"/>
            <p:nvPr/>
          </p:nvSpPr>
          <p:spPr>
            <a:xfrm>
              <a:off x="8432598" y="5419809"/>
              <a:ext cx="743401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LCD</a:t>
              </a:r>
              <a:endParaRPr lang="en-US" sz="1050" b="1" dirty="0">
                <a:solidFill>
                  <a:schemeClr val="bg1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2F3004-4B9B-F5B5-825F-653CDD192B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7212" y="4507712"/>
              <a:ext cx="0" cy="97868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3CFA2F-06FB-CFCE-2A55-967276DB1A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4981" y="4507712"/>
              <a:ext cx="0" cy="1219874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94C0C9D-4919-52AC-2CA3-5244836FC8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2777" y="4507712"/>
              <a:ext cx="0" cy="1458934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2E69A96-C83F-81DE-9EBC-28DDDA9E55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4981" y="5727586"/>
              <a:ext cx="1449121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C9A1C3F-12AF-B1A7-FCBF-E0A27A22F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82777" y="5966646"/>
              <a:ext cx="1771325" cy="10882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86BA613-038C-FD69-6AB4-3A432753E649}"/>
                </a:ext>
              </a:extLst>
            </p:cNvPr>
            <p:cNvSpPr txBox="1"/>
            <p:nvPr/>
          </p:nvSpPr>
          <p:spPr>
            <a:xfrm>
              <a:off x="6995602" y="5556175"/>
              <a:ext cx="309019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825" b="1" dirty="0">
                  <a:latin typeface="Arial" panose="020B0604020202020204" pitchFamily="34" charset="0"/>
                  <a:cs typeface="Arial" panose="020B0604020202020204" pitchFamily="34" charset="0"/>
                </a:rPr>
                <a:t>SDA</a:t>
              </a:r>
              <a:endParaRPr lang="en-US" sz="825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09E1E49-5EE2-7595-C5CE-46F7E8E2FD8B}"/>
                </a:ext>
              </a:extLst>
            </p:cNvPr>
            <p:cNvSpPr txBox="1"/>
            <p:nvPr/>
          </p:nvSpPr>
          <p:spPr>
            <a:xfrm>
              <a:off x="6995602" y="5813565"/>
              <a:ext cx="309017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825" b="1" dirty="0">
                  <a:latin typeface="Arial" panose="020B0604020202020204" pitchFamily="34" charset="0"/>
                  <a:cs typeface="Arial" panose="020B0604020202020204" pitchFamily="34" charset="0"/>
                </a:rPr>
                <a:t>SCL</a:t>
              </a:r>
              <a:endParaRPr lang="en-US" sz="825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6E7F95A-EE9A-8D51-83DC-EF60F42CCDB5}"/>
                </a:ext>
              </a:extLst>
            </p:cNvPr>
            <p:cNvSpPr txBox="1"/>
            <p:nvPr/>
          </p:nvSpPr>
          <p:spPr>
            <a:xfrm>
              <a:off x="6974692" y="5074742"/>
              <a:ext cx="313151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825" b="1" dirty="0">
                  <a:latin typeface="Arial" panose="020B0604020202020204" pitchFamily="34" charset="0"/>
                  <a:cs typeface="Arial" panose="020B0604020202020204" pitchFamily="34" charset="0"/>
                </a:rPr>
                <a:t>GND</a:t>
              </a:r>
              <a:endParaRPr lang="en-US" sz="825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F0CD6F1-A56D-1845-CFA1-DF76B6FD3CE1}"/>
                </a:ext>
              </a:extLst>
            </p:cNvPr>
            <p:cNvSpPr txBox="1"/>
            <p:nvPr/>
          </p:nvSpPr>
          <p:spPr>
            <a:xfrm>
              <a:off x="6991360" y="5326940"/>
              <a:ext cx="313151" cy="16927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825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Vcc</a:t>
              </a:r>
              <a:endParaRPr lang="en-US" sz="825" b="1" dirty="0"/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B7E8DE8-0967-1773-FF4D-F486CCB43BA3}"/>
              </a:ext>
            </a:extLst>
          </p:cNvPr>
          <p:cNvCxnSpPr>
            <a:cxnSpLocks/>
          </p:cNvCxnSpPr>
          <p:nvPr/>
        </p:nvCxnSpPr>
        <p:spPr>
          <a:xfrm flipH="1">
            <a:off x="2782190" y="3213317"/>
            <a:ext cx="264523" cy="567578"/>
          </a:xfrm>
          <a:prstGeom prst="straightConnector1">
            <a:avLst/>
          </a:prstGeom>
          <a:ln w="38100">
            <a:solidFill>
              <a:srgbClr val="FF5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87E5DCA-231D-2F3A-4154-A1B8F546448B}"/>
              </a:ext>
            </a:extLst>
          </p:cNvPr>
          <p:cNvSpPr txBox="1"/>
          <p:nvPr/>
        </p:nvSpPr>
        <p:spPr>
          <a:xfrm>
            <a:off x="2871522" y="3013419"/>
            <a:ext cx="11786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Contrast adjust</a:t>
            </a:r>
            <a:endParaRPr lang="en-US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72739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413F-EA89-DB60-48E6-10C4E658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C27DCA-56BA-A47B-67CE-8615E0E57EBE}"/>
              </a:ext>
            </a:extLst>
          </p:cNvPr>
          <p:cNvSpPr txBox="1"/>
          <p:nvPr/>
        </p:nvSpPr>
        <p:spPr>
          <a:xfrm>
            <a:off x="3184866" y="0"/>
            <a:ext cx="3419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Alphanumeric LCD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D0D7BD-73EC-3E18-23D5-B5C4FE1079B2}"/>
              </a:ext>
            </a:extLst>
          </p:cNvPr>
          <p:cNvSpPr txBox="1"/>
          <p:nvPr/>
        </p:nvSpPr>
        <p:spPr>
          <a:xfrm>
            <a:off x="218187" y="705177"/>
            <a:ext cx="8567612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Floating point numbers can be printed with specified number of fraction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 test code: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I2C_LCD_Numbers.ino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LCD display contain preloaded special characters: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print these characters,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use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(char) x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inside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lcd.print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example: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lcd.print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(char) 247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);	 // print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46F9BA-1DEA-D607-CF19-9755518F5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459" y="1759774"/>
            <a:ext cx="3587435" cy="479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611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0F208-E5F4-CBE4-A9BA-9AA6C8F03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0DAA47-A89B-3982-D682-8BD617AB47B4}"/>
              </a:ext>
            </a:extLst>
          </p:cNvPr>
          <p:cNvSpPr txBox="1"/>
          <p:nvPr/>
        </p:nvSpPr>
        <p:spPr>
          <a:xfrm>
            <a:off x="241461" y="725933"/>
            <a:ext cx="90099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" panose="05000000000000000000" pitchFamily="2" charset="2"/>
              </a:rPr>
              <a:t>Some applications, we might need special symbols that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   are not available in LCD character ROM</a:t>
            </a:r>
          </a:p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" panose="05000000000000000000" pitchFamily="2" charset="2"/>
              </a:rPr>
              <a:t>It is possible to customize fonts and display them on LCD</a:t>
            </a:r>
            <a:endParaRPr kumimoji="0" lang="th-TH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FBDB8-8231-273E-DEB7-966536866496}"/>
              </a:ext>
            </a:extLst>
          </p:cNvPr>
          <p:cNvSpPr txBox="1"/>
          <p:nvPr/>
        </p:nvSpPr>
        <p:spPr>
          <a:xfrm>
            <a:off x="2649461" y="0"/>
            <a:ext cx="4618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LCD Custom Font Display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DE081-72C8-DC94-DFA7-3EC21FECC2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6" t="17920" r="2115" b="11698"/>
          <a:stretch/>
        </p:blipFill>
        <p:spPr>
          <a:xfrm>
            <a:off x="1507015" y="3429000"/>
            <a:ext cx="6129969" cy="237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245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E5988-EA23-DE8B-0C11-8D56FC9A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C65A0F-6ED8-5E53-8FF1-4056513A02FE}"/>
              </a:ext>
            </a:extLst>
          </p:cNvPr>
          <p:cNvSpPr txBox="1"/>
          <p:nvPr/>
        </p:nvSpPr>
        <p:spPr>
          <a:xfrm>
            <a:off x="67003" y="573445"/>
            <a:ext cx="9009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Each character in LCD fonts are contained in 5x8 pixel grid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" panose="05000000000000000000" pitchFamily="2" charset="2"/>
              </a:rPr>
              <a:t>We consider dark pixel as "1" and light pixel as "0"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In the example below, </a:t>
            </a:r>
            <a:r>
              <a:rPr lang="en-US" sz="32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" panose="05000000000000000000" pitchFamily="2" charset="2"/>
              </a:rPr>
              <a:t>we can write binary number for each row as: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292568-CFF3-BD4F-FA4A-25CD80C7C3CD}"/>
              </a:ext>
            </a:extLst>
          </p:cNvPr>
          <p:cNvSpPr txBox="1"/>
          <p:nvPr/>
        </p:nvSpPr>
        <p:spPr>
          <a:xfrm>
            <a:off x="2649461" y="0"/>
            <a:ext cx="4618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LCD Custom Font Display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BA1EAF-1621-3EFD-E529-E276AED22700}"/>
              </a:ext>
            </a:extLst>
          </p:cNvPr>
          <p:cNvGrpSpPr/>
          <p:nvPr/>
        </p:nvGrpSpPr>
        <p:grpSpPr>
          <a:xfrm>
            <a:off x="110118" y="2283072"/>
            <a:ext cx="3771570" cy="4419474"/>
            <a:chOff x="723728" y="2159668"/>
            <a:chExt cx="4187176" cy="44194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7530CD6-7341-AEB4-63DB-6EDE45235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728" y="2159668"/>
              <a:ext cx="3016840" cy="4419474"/>
            </a:xfrm>
            <a:prstGeom prst="rect">
              <a:avLst/>
            </a:prstGeom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067B3400-1B98-A457-39BC-74F6FE5ACEE5}"/>
                </a:ext>
              </a:extLst>
            </p:cNvPr>
            <p:cNvSpPr/>
            <p:nvPr/>
          </p:nvSpPr>
          <p:spPr>
            <a:xfrm>
              <a:off x="3686915" y="2630807"/>
              <a:ext cx="327150" cy="2286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77C99D-60D8-0A56-44BF-B033661E6DD1}"/>
                </a:ext>
              </a:extLst>
            </p:cNvPr>
            <p:cNvSpPr txBox="1"/>
            <p:nvPr/>
          </p:nvSpPr>
          <p:spPr>
            <a:xfrm>
              <a:off x="3960410" y="2570233"/>
              <a:ext cx="9504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00001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5E5E0C-A16A-BDA6-C27C-B9ADCA137D2B}"/>
                </a:ext>
              </a:extLst>
            </p:cNvPr>
            <p:cNvSpPr txBox="1"/>
            <p:nvPr/>
          </p:nvSpPr>
          <p:spPr>
            <a:xfrm>
              <a:off x="3939589" y="3016052"/>
              <a:ext cx="9504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11001</a:t>
              </a:r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43DAA6-E855-B6E8-6496-3B3A8843A3B9}"/>
                </a:ext>
              </a:extLst>
            </p:cNvPr>
            <p:cNvSpPr txBox="1"/>
            <p:nvPr/>
          </p:nvSpPr>
          <p:spPr>
            <a:xfrm>
              <a:off x="3939589" y="3483897"/>
              <a:ext cx="9504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11001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4B96F6-285B-54E0-DC75-E9BC3A501170}"/>
                </a:ext>
              </a:extLst>
            </p:cNvPr>
            <p:cNvSpPr txBox="1"/>
            <p:nvPr/>
          </p:nvSpPr>
          <p:spPr>
            <a:xfrm>
              <a:off x="3960409" y="3977628"/>
              <a:ext cx="9504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01001</a:t>
              </a:r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83780E-050E-C9D9-249F-C00E3E95FBCB}"/>
                </a:ext>
              </a:extLst>
            </p:cNvPr>
            <p:cNvSpPr txBox="1"/>
            <p:nvPr/>
          </p:nvSpPr>
          <p:spPr>
            <a:xfrm>
              <a:off x="3960407" y="4454659"/>
              <a:ext cx="9504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01001</a:t>
              </a:r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08CF76-9410-26B5-E15F-BF024B462466}"/>
                </a:ext>
              </a:extLst>
            </p:cNvPr>
            <p:cNvSpPr txBox="1"/>
            <p:nvPr/>
          </p:nvSpPr>
          <p:spPr>
            <a:xfrm>
              <a:off x="3939589" y="4910741"/>
              <a:ext cx="9504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01001</a:t>
              </a:r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BD7BF4-7306-1AB2-95CB-9628C7046EC7}"/>
                </a:ext>
              </a:extLst>
            </p:cNvPr>
            <p:cNvSpPr txBox="1"/>
            <p:nvPr/>
          </p:nvSpPr>
          <p:spPr>
            <a:xfrm>
              <a:off x="3939589" y="5430334"/>
              <a:ext cx="9504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01001</a:t>
              </a:r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5340C0-47CD-616A-A2BA-F97E0F9C9727}"/>
                </a:ext>
              </a:extLst>
            </p:cNvPr>
            <p:cNvSpPr txBox="1"/>
            <p:nvPr/>
          </p:nvSpPr>
          <p:spPr>
            <a:xfrm>
              <a:off x="3939589" y="5879562"/>
              <a:ext cx="9504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01111</a:t>
              </a:r>
              <a:endParaRPr lang="en-US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05E5243-AFFB-4ECC-C5D6-61283322B865}"/>
              </a:ext>
            </a:extLst>
          </p:cNvPr>
          <p:cNvSpPr txBox="1"/>
          <p:nvPr/>
        </p:nvSpPr>
        <p:spPr>
          <a:xfrm>
            <a:off x="3959893" y="2187976"/>
            <a:ext cx="5184107" cy="42780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#include &lt;</a:t>
            </a:r>
            <a:r>
              <a:rPr lang="en-US" sz="1600" dirty="0" err="1"/>
              <a:t>Wire.h</a:t>
            </a:r>
            <a:r>
              <a:rPr lang="en-US" sz="1600" dirty="0"/>
              <a:t>&gt;</a:t>
            </a:r>
          </a:p>
          <a:p>
            <a:r>
              <a:rPr lang="en-US" sz="1600" dirty="0"/>
              <a:t>#include &lt;LiquidCrystal_I2C.h&gt;</a:t>
            </a:r>
          </a:p>
          <a:p>
            <a:endParaRPr lang="en-US" sz="1600" dirty="0"/>
          </a:p>
          <a:p>
            <a:r>
              <a:rPr lang="en-US" sz="1600" dirty="0"/>
              <a:t>LiquidCrystal_I2C lcd(0x3F, 16, 2);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byte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customChar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[] = {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 B00001, B11001, B11001, B01001, 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 B01001, B01001, B01001, B01111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};</a:t>
            </a:r>
          </a:p>
          <a:p>
            <a:r>
              <a:rPr lang="en-US" sz="1600" dirty="0"/>
              <a:t>void setup() {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// Initialize the LCD 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lcd.init</a:t>
            </a:r>
            <a:r>
              <a:rPr lang="en-US" sz="1600" dirty="0"/>
              <a:t>();  </a:t>
            </a:r>
          </a:p>
          <a:p>
            <a:r>
              <a:rPr lang="en-US" sz="1600" dirty="0"/>
              <a:t>  	for (int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8; </a:t>
            </a:r>
            <a:r>
              <a:rPr lang="en-US" sz="1600" dirty="0" err="1"/>
              <a:t>i</a:t>
            </a:r>
            <a:r>
              <a:rPr lang="en-US" sz="1600" dirty="0"/>
              <a:t>++) {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// Create custom characters</a:t>
            </a:r>
          </a:p>
          <a:p>
            <a:r>
              <a:rPr lang="en-US" sz="1600" dirty="0"/>
              <a:t>		</a:t>
            </a:r>
            <a:r>
              <a:rPr lang="en-US" sz="1600" b="1" dirty="0" err="1">
                <a:solidFill>
                  <a:schemeClr val="accent5">
                    <a:lumMod val="50000"/>
                  </a:schemeClr>
                </a:solidFill>
              </a:rPr>
              <a:t>lcd.createChar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en-US" sz="16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en-US" sz="1600" b="1" dirty="0" err="1">
                <a:solidFill>
                  <a:schemeClr val="accent5">
                    <a:lumMod val="50000"/>
                  </a:schemeClr>
                </a:solidFill>
              </a:rPr>
              <a:t>thaiChars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[</a:t>
            </a:r>
            <a:r>
              <a:rPr lang="en-US" sz="1600" b="1" dirty="0" err="1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]);  </a:t>
            </a:r>
          </a:p>
          <a:p>
            <a:r>
              <a:rPr lang="en-US" sz="1600" dirty="0"/>
              <a:t>	} 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lcd.clear</a:t>
            </a:r>
            <a:r>
              <a:rPr lang="en-US" sz="1600" dirty="0"/>
              <a:t>(); </a:t>
            </a:r>
          </a:p>
          <a:p>
            <a:r>
              <a:rPr lang="en-US" sz="1600" dirty="0"/>
              <a:t>	</a:t>
            </a:r>
            <a:r>
              <a:rPr lang="en-US" sz="1600" b="1" dirty="0" err="1">
                <a:solidFill>
                  <a:schemeClr val="accent5">
                    <a:lumMod val="50000"/>
                  </a:schemeClr>
                </a:solidFill>
              </a:rPr>
              <a:t>displayThaiCharacters</a:t>
            </a: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();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// Display the Thai characters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E532E6D-C485-9FF1-5E86-2EEF8711C86E}"/>
              </a:ext>
            </a:extLst>
          </p:cNvPr>
          <p:cNvSpPr/>
          <p:nvPr/>
        </p:nvSpPr>
        <p:spPr>
          <a:xfrm>
            <a:off x="2783194" y="3224057"/>
            <a:ext cx="29467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BE84AE1B-A05A-D17D-2FF0-9B24E7DC4505}"/>
              </a:ext>
            </a:extLst>
          </p:cNvPr>
          <p:cNvSpPr/>
          <p:nvPr/>
        </p:nvSpPr>
        <p:spPr>
          <a:xfrm>
            <a:off x="2779189" y="3680732"/>
            <a:ext cx="29467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9F5DCDC-5F46-B97F-F616-9F7080898431}"/>
              </a:ext>
            </a:extLst>
          </p:cNvPr>
          <p:cNvSpPr/>
          <p:nvPr/>
        </p:nvSpPr>
        <p:spPr>
          <a:xfrm>
            <a:off x="2779189" y="4177537"/>
            <a:ext cx="29467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E9547B4-AC6B-462A-D71B-495283876B23}"/>
              </a:ext>
            </a:extLst>
          </p:cNvPr>
          <p:cNvSpPr/>
          <p:nvPr/>
        </p:nvSpPr>
        <p:spPr>
          <a:xfrm>
            <a:off x="2779189" y="4643867"/>
            <a:ext cx="29467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AB22616-D81F-DBC3-678A-147C6396A607}"/>
              </a:ext>
            </a:extLst>
          </p:cNvPr>
          <p:cNvSpPr/>
          <p:nvPr/>
        </p:nvSpPr>
        <p:spPr>
          <a:xfrm>
            <a:off x="2779536" y="5110197"/>
            <a:ext cx="29467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09E5277-A024-2C07-00B9-92DFF42AB1B4}"/>
              </a:ext>
            </a:extLst>
          </p:cNvPr>
          <p:cNvSpPr/>
          <p:nvPr/>
        </p:nvSpPr>
        <p:spPr>
          <a:xfrm>
            <a:off x="2778032" y="5610273"/>
            <a:ext cx="29467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DB0F29E0-3C99-5F47-F2A8-5B04293EEAF2}"/>
              </a:ext>
            </a:extLst>
          </p:cNvPr>
          <p:cNvSpPr/>
          <p:nvPr/>
        </p:nvSpPr>
        <p:spPr>
          <a:xfrm>
            <a:off x="2778032" y="6073332"/>
            <a:ext cx="294678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479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9AE7-BCB9-2F58-ED84-B59EEEEA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1381E0-8C4D-38D4-C28D-88F215926ADA}"/>
              </a:ext>
            </a:extLst>
          </p:cNvPr>
          <p:cNvSpPr txBox="1"/>
          <p:nvPr/>
        </p:nvSpPr>
        <p:spPr>
          <a:xfrm>
            <a:off x="67003" y="568313"/>
            <a:ext cx="9009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There is an online tool to help design custom fonts: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    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https://maxpromer.github.io/LCD-Character-Creator/</a:t>
            </a:r>
            <a:endParaRPr kumimoji="0" lang="th-TH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5903D-9509-E078-8712-FC0F64E60FC4}"/>
              </a:ext>
            </a:extLst>
          </p:cNvPr>
          <p:cNvSpPr txBox="1"/>
          <p:nvPr/>
        </p:nvSpPr>
        <p:spPr>
          <a:xfrm>
            <a:off x="2649461" y="0"/>
            <a:ext cx="4618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LCD Custom Font Display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6FC41-E775-8F01-793F-DA1480304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00" y="1768642"/>
            <a:ext cx="4061553" cy="508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247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98887-D96D-7EDB-F7A5-E62B1EAA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50B586-7289-DE46-EB3D-92F38978F32A}"/>
              </a:ext>
            </a:extLst>
          </p:cNvPr>
          <p:cNvSpPr txBox="1"/>
          <p:nvPr/>
        </p:nvSpPr>
        <p:spPr>
          <a:xfrm>
            <a:off x="283572" y="1073639"/>
            <a:ext cx="90099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The Liquid_Crystal_I2C library provides function to install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" panose="05000000000000000000" pitchFamily="2" charset="2"/>
              </a:rPr>
              <a:t>    custom fonts into available LCD character memory</a:t>
            </a:r>
          </a:p>
          <a:p>
            <a:pPr marL="571500" marR="0" lvl="0" indent="-5715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  <a:sym typeface="Wingdings" panose="05000000000000000000" pitchFamily="2" charset="2"/>
              </a:rPr>
              <a:t>Examp</a:t>
            </a:r>
            <a:r>
              <a:rPr lang="en-US" sz="3600" b="1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" panose="05000000000000000000" pitchFamily="2" charset="2"/>
              </a:rPr>
              <a:t>le: </a:t>
            </a:r>
            <a:r>
              <a:rPr lang="en-US" sz="3600" b="1" dirty="0" err="1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  <a:sym typeface="Wingdings" panose="05000000000000000000" pitchFamily="2" charset="2"/>
              </a:rPr>
              <a:t>ThaiCharDemo.ino</a:t>
            </a:r>
            <a:endParaRPr kumimoji="0" lang="th-TH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H Sarabun New" panose="020B0500040200020003" pitchFamily="34" charset="-34"/>
              <a:ea typeface="+mn-ea"/>
              <a:cs typeface="TH Sarabun New" panose="020B0500040200020003" pitchFamily="34" charset="-34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47E95-0D70-F9BB-CDB1-2121F2A8E679}"/>
              </a:ext>
            </a:extLst>
          </p:cNvPr>
          <p:cNvSpPr txBox="1"/>
          <p:nvPr/>
        </p:nvSpPr>
        <p:spPr>
          <a:xfrm>
            <a:off x="2649461" y="0"/>
            <a:ext cx="46185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LCD Custom Font Display</a:t>
            </a:r>
          </a:p>
        </p:txBody>
      </p:sp>
    </p:spTree>
    <p:extLst>
      <p:ext uri="{BB962C8B-B14F-4D97-AF65-F5344CB8AC3E}">
        <p14:creationId xmlns:p14="http://schemas.microsoft.com/office/powerpoint/2010/main" val="38784110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1215</TotalTime>
  <Words>3320</Words>
  <Application>Microsoft Office PowerPoint</Application>
  <PresentationFormat>On-screen Show (4:3)</PresentationFormat>
  <Paragraphs>567</Paragraphs>
  <Slides>83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8" baseType="lpstr">
      <vt:lpstr>Aptos</vt:lpstr>
      <vt:lpstr>Arial</vt:lpstr>
      <vt:lpstr>Arial-ItalicMT</vt:lpstr>
      <vt:lpstr>ArialMT</vt:lpstr>
      <vt:lpstr>Calibri</vt:lpstr>
      <vt:lpstr>Calibri Light</vt:lpstr>
      <vt:lpstr>Cambria</vt:lpstr>
      <vt:lpstr>Consolas-Bold</vt:lpstr>
      <vt:lpstr>Consolas-Italic</vt:lpstr>
      <vt:lpstr>Courier New</vt:lpstr>
      <vt:lpstr>Symbol</vt:lpstr>
      <vt:lpstr>TH Sarabun New</vt:lpstr>
      <vt:lpstr>Times New Roman</vt:lpstr>
      <vt:lpstr>1_Office Theme</vt:lpstr>
      <vt:lpstr>Office Theme</vt:lpstr>
      <vt:lpstr>  Arduino Workshop (ESP32 Advanced Level)   ดร. วาธิส ลีลาภัทร ภาควิชาวิศวกรรมคอมพิวเตอร์ คณะวิศวกรรมศาสตร์ มหาวิทยาลัยขอนแก่น</vt:lpstr>
      <vt:lpstr>Agenda</vt:lpstr>
      <vt:lpstr>ESP32 DEVKIT</vt:lpstr>
      <vt:lpstr>ESP32 DEVKIT Pinout</vt:lpstr>
      <vt:lpstr>ESP32 Extension Board</vt:lpstr>
      <vt:lpstr>Circuit Construction</vt:lpstr>
      <vt:lpstr>Arduino Reference 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Watis Leelapatra</dc:creator>
  <cp:lastModifiedBy>Watis Leelapatra</cp:lastModifiedBy>
  <cp:revision>66</cp:revision>
  <dcterms:created xsi:type="dcterms:W3CDTF">2020-07-20T14:51:26Z</dcterms:created>
  <dcterms:modified xsi:type="dcterms:W3CDTF">2025-02-16T13:47:05Z</dcterms:modified>
</cp:coreProperties>
</file>